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Risk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C0392B"/>
              </a:solidFill>
              <a:effectLst/>
            </c:spPr>
          </c:dPt>
          <c:dPt>
            <c:idx val="1"/>
            <c:bubble3D val="0"/>
            <c:spPr>
              <a:solidFill>
                <a:srgbClr val="D35400"/>
              </a:solidFill>
              <a:effectLst/>
            </c:spPr>
          </c:dPt>
          <c:dPt>
            <c:idx val="2"/>
            <c:bubble3D val="0"/>
            <c:spPr>
              <a:solidFill>
                <a:srgbClr val="C89B3C"/>
              </a:solidFill>
              <a:effectLst/>
            </c:spPr>
          </c:dPt>
          <c:dPt>
            <c:idx val="3"/>
            <c:bubble3D val="0"/>
            <c:spPr>
              <a:solidFill>
                <a:srgbClr val="16A085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Critical</c:v>
                </c:pt>
                <c:pt idx="1">
                  <c:v>High</c:v>
                </c:pt>
                <c:pt idx="2">
                  <c:v>Medium</c:v>
                </c:pt>
                <c:pt idx="3">
                  <c:v>Low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25</c:v>
                </c:pt>
                <c:pt idx="1">
                  <c:v>35</c:v>
                </c:pt>
                <c:pt idx="2">
                  <c:v>25</c:v>
                </c:pt>
                <c:pt idx="3">
                  <c:v>15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solidFill>
      <a:srgbClr val="0F172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</c:v>
                </c:pt>
              </c:strCache>
            </c:strRef>
          </c:tx>
          <c:spPr>
            <a:solidFill>
              <a:srgbClr val="0D7377"/>
            </a:solidFill>
            <a:ln w="25400" cap="flat">
              <a:solidFill>
                <a:srgbClr val="0D7377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7377"/>
              </a:solidFill>
              <a:ln w="9525" cap="flat">
                <a:solidFill>
                  <a:srgbClr val="0D7377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Aug</c:v>
                  </c:pt>
                  <c:pt idx="2">
                    <c:v>Sep</c:v>
                  </c:pt>
                  <c:pt idx="3">
                    <c:v>Oct</c:v>
                  </c:pt>
                  <c:pt idx="4">
                    <c:v>Nov</c:v>
                  </c:pt>
                  <c:pt idx="5">
                    <c:v>Dec</c:v>
                  </c:pt>
                  <c:pt idx="6">
                    <c:v>Jan</c:v>
                  </c:pt>
                  <c:pt idx="7">
                    <c:v>Feb</c:v>
                  </c:pt>
                  <c:pt idx="8">
                    <c:v>Mar</c:v>
                  </c:pt>
                  <c:pt idx="9">
                    <c:v>Apr</c:v>
                  </c:pt>
                  <c:pt idx="10">
                    <c:v>May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72</c:v>
                </c:pt>
                <c:pt idx="1">
                  <c:v>74</c:v>
                </c:pt>
                <c:pt idx="2">
                  <c:v>78</c:v>
                </c:pt>
                <c:pt idx="3">
                  <c:v>76</c:v>
                </c:pt>
                <c:pt idx="4">
                  <c:v>80</c:v>
                </c:pt>
                <c:pt idx="5">
                  <c:v>82</c:v>
                </c:pt>
                <c:pt idx="6">
                  <c:v>83</c:v>
                </c:pt>
                <c:pt idx="7">
                  <c:v>85</c:v>
                </c:pt>
                <c:pt idx="8">
                  <c:v>84</c:v>
                </c:pt>
                <c:pt idx="9">
                  <c:v>86</c:v>
                </c:pt>
                <c:pt idx="10">
                  <c:v>87</c:v>
                </c:pt>
                <c:pt idx="11">
                  <c:v>87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3341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1E293B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71A33"/>
          </a:solidFill>
          <a:ln w="12700">
            <a:solidFill>
              <a:srgbClr val="071A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1005840"/>
            <a:ext cx="457200" cy="585216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14800" cy="6858000"/>
          </a:xfrm>
          <a:prstGeom prst="rect">
            <a:avLst/>
          </a:prstGeom>
          <a:solidFill>
            <a:srgbClr val="071A33"/>
          </a:solidFill>
          <a:ln w="12700">
            <a:solidFill>
              <a:srgbClr val="071A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C89B3C"/>
                </a:solidFill>
              </a:rPr>
              <a:t>INDIA HR LAW INTELLIGENCE SERIES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40080" y="566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BA8C4"/>
                </a:solidFill>
              </a:rPr>
              <a:t>2024 | STRATEGIC LEGAL PORTFOLIO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40080" y="118872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</a:rPr>
              <a:t>Indian Labour</a:t>
            </a:r>
            <a:endParaRPr lang="en-US" sz="5800" dirty="0"/>
          </a:p>
        </p:txBody>
      </p:sp>
      <p:sp>
        <p:nvSpPr>
          <p:cNvPr id="8" name="Text 6"/>
          <p:cNvSpPr/>
          <p:nvPr/>
        </p:nvSpPr>
        <p:spPr>
          <a:xfrm>
            <a:off x="640080" y="214884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C89B3C"/>
                </a:solidFill>
              </a:rPr>
              <a:t>Law Reform</a:t>
            </a:r>
            <a:endParaRPr lang="en-US" sz="58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</a:rPr>
              <a:t>Portfolio</a:t>
            </a:r>
            <a:endParaRPr lang="en-US" sz="5800" dirty="0"/>
          </a:p>
        </p:txBody>
      </p:sp>
      <p:sp>
        <p:nvSpPr>
          <p:cNvPr id="10" name="Text 8"/>
          <p:cNvSpPr/>
          <p:nvPr/>
        </p:nvSpPr>
        <p:spPr>
          <a:xfrm>
            <a:off x="640080" y="416052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BA8C4"/>
                </a:solidFill>
              </a:rPr>
              <a:t>A Comprehensive Guide to India's Four Labour Codes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8BA8C4"/>
                </a:solidFill>
              </a:rPr>
              <a:t>Code on Wages • Industrial Relations Code • Social Security Code • Occupational Safety Code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5166360"/>
            <a:ext cx="6949440" cy="36576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52578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C4"/>
                </a:solidFill>
              </a:rPr>
              <a:t>Prepared by: HR Legal Compliance Team  |  Date: June 2024  |  Classification: Internal Reference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8229600" y="82296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C89B3C"/>
                </a:solidFill>
              </a:rPr>
              <a:t>CODES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spc="200" kern="0" dirty="0">
                <a:solidFill>
                  <a:srgbClr val="C89B3C"/>
                </a:solidFill>
              </a:rPr>
              <a:t>COVERED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412480" y="182880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0D1B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412480" y="1828800"/>
            <a:ext cx="548640" cy="960120"/>
          </a:xfrm>
          <a:prstGeom prst="roundRect">
            <a:avLst>
              <a:gd name="adj" fmla="val 13333"/>
            </a:avLst>
          </a:prstGeom>
          <a:solidFill>
            <a:srgbClr val="0D7377"/>
          </a:solidFill>
          <a:ln/>
        </p:spPr>
      </p:sp>
      <p:sp>
        <p:nvSpPr>
          <p:cNvPr id="16" name="Text 14"/>
          <p:cNvSpPr/>
          <p:nvPr/>
        </p:nvSpPr>
        <p:spPr>
          <a:xfrm>
            <a:off x="8412480" y="21031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098280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Code on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Wages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9098280" y="23957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C4"/>
                </a:solidFill>
              </a:rPr>
              <a:t>Act No. 29 of 2019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8412480" y="297180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0D1B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12480" y="2971800"/>
            <a:ext cx="548640" cy="960120"/>
          </a:xfrm>
          <a:prstGeom prst="roundRect">
            <a:avLst>
              <a:gd name="adj" fmla="val 13333"/>
            </a:avLst>
          </a:prstGeom>
          <a:solidFill>
            <a:srgbClr val="1B4F8A"/>
          </a:solidFill>
          <a:ln/>
        </p:spPr>
      </p:sp>
      <p:sp>
        <p:nvSpPr>
          <p:cNvPr id="21" name="Text 19"/>
          <p:cNvSpPr/>
          <p:nvPr/>
        </p:nvSpPr>
        <p:spPr>
          <a:xfrm>
            <a:off x="8412480" y="32461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98280" y="3063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Industrial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Relations Code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098280" y="35387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C4"/>
                </a:solidFill>
              </a:rPr>
              <a:t>Act No. 35 of 2020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412480" y="411480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0D1B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8412480" y="4114800"/>
            <a:ext cx="548640" cy="960120"/>
          </a:xfrm>
          <a:prstGeom prst="roundRect">
            <a:avLst>
              <a:gd name="adj" fmla="val 13333"/>
            </a:avLst>
          </a:prstGeom>
          <a:solidFill>
            <a:srgbClr val="C89B3C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0" y="43891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098280" y="4206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Social Security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Code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9098280" y="46817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C4"/>
                </a:solidFill>
              </a:rPr>
              <a:t>Act No. 36 of 2020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412480" y="5257800"/>
            <a:ext cx="3474720" cy="960120"/>
          </a:xfrm>
          <a:prstGeom prst="roundRect">
            <a:avLst>
              <a:gd name="adj" fmla="val 7619"/>
            </a:avLst>
          </a:prstGeom>
          <a:solidFill>
            <a:srgbClr val="0D1B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412480" y="5257800"/>
            <a:ext cx="548640" cy="960120"/>
          </a:xfrm>
          <a:prstGeom prst="roundRect">
            <a:avLst>
              <a:gd name="adj" fmla="val 13333"/>
            </a:avLst>
          </a:prstGeom>
          <a:solidFill>
            <a:srgbClr val="1B6B4D"/>
          </a:solidFill>
          <a:ln/>
        </p:spPr>
      </p:sp>
      <p:sp>
        <p:nvSpPr>
          <p:cNvPr id="31" name="Text 29"/>
          <p:cNvSpPr/>
          <p:nvPr/>
        </p:nvSpPr>
        <p:spPr>
          <a:xfrm>
            <a:off x="8412480" y="5532120"/>
            <a:ext cx="548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9098280" y="5349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Occupational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Safety Code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9098280" y="582472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C4"/>
                </a:solidFill>
              </a:rPr>
              <a:t>Act No. 37 of 2020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74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FFFFFF"/>
                </a:solidFill>
              </a:rPr>
              <a:t>TABLE OF CONTENTS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8C4"/>
                </a:solidFill>
              </a:rPr>
              <a:t>Navigating This Portfolio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188720"/>
            <a:ext cx="5394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188720"/>
            <a:ext cx="502920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38988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2618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</a:rPr>
              <a:t>Executive Summary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59105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Overview of India's historic labour law reform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120640" y="14173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7377"/>
                </a:solidFill>
              </a:rPr>
              <a:t>Slide 3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65760" y="2084832"/>
            <a:ext cx="5394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084832"/>
            <a:ext cx="502920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22860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960120" y="215798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</a:rPr>
              <a:t>Labour Law Evolution Timeline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24871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From 1923 to the Four Labour Codes 2019–2020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120640" y="231343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7377"/>
                </a:solidFill>
              </a:rPr>
              <a:t>Slide 4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65760" y="2980944"/>
            <a:ext cx="5394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2980944"/>
            <a:ext cx="502920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18211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60120" y="305409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</a:rPr>
              <a:t>29 Laws → 4 Codes: Visual Map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960120" y="33832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Consolidation framework and coverage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120640" y="320954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7377"/>
                </a:solidFill>
              </a:rPr>
              <a:t>Slide 5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65760" y="3877056"/>
            <a:ext cx="5394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" y="3877056"/>
            <a:ext cx="502920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07822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04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60120" y="39502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</a:rPr>
              <a:t>Code on Wages 2019 – Deep Dive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60120" y="42793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Minimum wages, payment, bonus, equal pay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120640" y="410565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7377"/>
                </a:solidFill>
              </a:rPr>
              <a:t>Slide 6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365760" y="4773168"/>
            <a:ext cx="5394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65760" y="4773168"/>
            <a:ext cx="502920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5760" y="497433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05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60120" y="48463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</a:rPr>
              <a:t>Industrial Relations Code 2020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960120" y="517550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Trade unions, standing orders, disputes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120640" y="500176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7377"/>
                </a:solidFill>
              </a:rPr>
              <a:t>Slide 7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365760" y="5669280"/>
            <a:ext cx="5394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5760" y="5669280"/>
            <a:ext cx="502920" cy="7772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587044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06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60120" y="574243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</a:rPr>
              <a:t>Social Security Code 2020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60120" y="60716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PF, ESI, gratuity, maternity, unorganised workers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120640" y="5897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D7377"/>
                </a:solidFill>
              </a:rPr>
              <a:t>Slide 8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400800" y="1188720"/>
            <a:ext cx="5394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400800" y="1188720"/>
            <a:ext cx="502920" cy="7772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400800" y="138988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07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6995160" y="126187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</a:rPr>
              <a:t>HR Compliance Framework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995160" y="159105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Applicability matrix and threshold analysis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11155680" y="141732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89B3C"/>
                </a:solidFill>
              </a:rPr>
              <a:t>Slide 9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400800" y="2084832"/>
            <a:ext cx="5394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400800" y="2084832"/>
            <a:ext cx="502920" cy="7772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400800" y="2286000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08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6995160" y="2157984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</a:rPr>
              <a:t>Risk Heat Map &amp; Penalty Register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6995160" y="2487168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Non-compliance risks and financial exposure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155680" y="2313432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89B3C"/>
                </a:solidFill>
              </a:rPr>
              <a:t>Slide 10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400800" y="2980944"/>
            <a:ext cx="5394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6400800" y="2980944"/>
            <a:ext cx="502920" cy="7772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400800" y="3182112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09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6995160" y="3054096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</a:rPr>
              <a:t>Power BI–Style HR Dashboard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995160" y="3383280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Compliance KPIs, analytics and scorecards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11155680" y="3209544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89B3C"/>
                </a:solidFill>
              </a:rPr>
              <a:t>Slide 11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6400800" y="3877056"/>
            <a:ext cx="5394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400800" y="3877056"/>
            <a:ext cx="502920" cy="7772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400800" y="4078224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10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6995160" y="3950208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</a:rPr>
              <a:t>Workforce Lifecycle Mapping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995160" y="42793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Employee journey under the four codes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11155680" y="4105656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89B3C"/>
                </a:solidFill>
              </a:rPr>
              <a:t>Slide 12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6400800" y="4773168"/>
            <a:ext cx="5394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6400800" y="4773168"/>
            <a:ext cx="502920" cy="7772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00800" y="4974336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11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6995160" y="48463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</a:rPr>
              <a:t>International Comparison</a:t>
            </a:r>
            <a:endParaRPr lang="en-US" sz="1200" dirty="0"/>
          </a:p>
        </p:txBody>
      </p:sp>
      <p:sp>
        <p:nvSpPr>
          <p:cNvPr id="69" name="Text 67"/>
          <p:cNvSpPr/>
          <p:nvPr/>
        </p:nvSpPr>
        <p:spPr>
          <a:xfrm>
            <a:off x="6995160" y="5175504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India vs global labour standards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11155680" y="5001768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89B3C"/>
                </a:solidFill>
              </a:rPr>
              <a:t>Slide 13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6400800" y="5669280"/>
            <a:ext cx="5394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6400800" y="5669280"/>
            <a:ext cx="502920" cy="7772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400800" y="5870448"/>
            <a:ext cx="502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12</a:t>
            </a:r>
            <a:endParaRPr lang="en-US" sz="1300" dirty="0"/>
          </a:p>
        </p:txBody>
      </p:sp>
      <p:sp>
        <p:nvSpPr>
          <p:cNvPr id="74" name="Text 72"/>
          <p:cNvSpPr/>
          <p:nvPr/>
        </p:nvSpPr>
        <p:spPr>
          <a:xfrm>
            <a:off x="6995160" y="5742432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A2342"/>
                </a:solidFill>
              </a:rPr>
              <a:t>Compliance Maturity Model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6995160" y="6071616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5-level readiness framework for HR teams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11155680" y="589788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C89B3C"/>
                </a:solidFill>
              </a:rPr>
              <a:t>Slide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005840"/>
          </a:xfrm>
          <a:prstGeom prst="rect">
            <a:avLst/>
          </a:prstGeom>
          <a:solidFill>
            <a:srgbClr val="071A33"/>
          </a:solidFill>
          <a:ln w="12700">
            <a:solidFill>
              <a:srgbClr val="071A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286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FFFFFF"/>
                </a:solidFill>
              </a:rPr>
              <a:t>EXECUTIVE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9B3C"/>
                </a:solidFill>
              </a:rPr>
              <a:t>India's Most Significant Labour Law Reform in 75 Years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14300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0D1B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2344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C89B3C"/>
                </a:solidFill>
              </a:rPr>
              <a:t>44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365760" y="199339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8C4"/>
                </a:solidFill>
              </a:rPr>
              <a:t>Legacy Laws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A8C4"/>
                </a:solidFill>
              </a:rPr>
              <a:t>Consolidated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14300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0D1B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91840" y="12344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D7377"/>
                </a:solidFill>
              </a:rPr>
              <a:t>4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3291840" y="199339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8C4"/>
                </a:solidFill>
              </a:rPr>
              <a:t>Labour Codes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A8C4"/>
                </a:solidFill>
              </a:rPr>
              <a:t>Enacted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14300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0D1B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217920" y="12344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4CAF50"/>
                </a:solidFill>
              </a:rPr>
              <a:t>500M+</a:t>
            </a:r>
            <a:endParaRPr lang="en-US" sz="4200" dirty="0"/>
          </a:p>
        </p:txBody>
      </p:sp>
      <p:sp>
        <p:nvSpPr>
          <p:cNvPr id="13" name="Text 11"/>
          <p:cNvSpPr/>
          <p:nvPr/>
        </p:nvSpPr>
        <p:spPr>
          <a:xfrm>
            <a:off x="6217920" y="199339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8C4"/>
                </a:solidFill>
              </a:rPr>
              <a:t>Workers to be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A8C4"/>
                </a:solidFill>
              </a:rPr>
              <a:t>Impacted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0" y="1143000"/>
            <a:ext cx="2651760" cy="1463040"/>
          </a:xfrm>
          <a:prstGeom prst="roundRect">
            <a:avLst>
              <a:gd name="adj" fmla="val 6250"/>
            </a:avLst>
          </a:prstGeom>
          <a:solidFill>
            <a:srgbClr val="0D1B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44000" y="1234440"/>
            <a:ext cx="2651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D35400"/>
                </a:solidFill>
              </a:rPr>
              <a:t>29+</a:t>
            </a:r>
            <a:endParaRPr lang="en-US" sz="4200" dirty="0"/>
          </a:p>
        </p:txBody>
      </p:sp>
      <p:sp>
        <p:nvSpPr>
          <p:cNvPr id="16" name="Text 14"/>
          <p:cNvSpPr/>
          <p:nvPr/>
        </p:nvSpPr>
        <p:spPr>
          <a:xfrm>
            <a:off x="9144000" y="1993392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A8C4"/>
                </a:solidFill>
              </a:rPr>
              <a:t>Years of Debate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A8C4"/>
                </a:solidFill>
              </a:rPr>
              <a:t>Before Reform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278892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0D1B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0352" y="3108960"/>
            <a:ext cx="228600" cy="22860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2880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Historic Consolidation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32004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C4"/>
                </a:solidFill>
              </a:rPr>
              <a:t>The Government of India consolidated 44 central labour laws into 4 comprehensive codes — the biggest overhaul of Indian labour law since independence.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65760" y="397764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0D1B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30352" y="4297680"/>
            <a:ext cx="228600" cy="22860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4069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Uniform Definitions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68680" y="43891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C4"/>
                </a:solidFill>
              </a:rPr>
              <a:t>For the first time, all four codes adopt a uniform definition of 'wages,' eliminating the confusion caused by 12+ different definitions across legacy laws.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516636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0D1B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30352" y="5486400"/>
            <a:ext cx="228600" cy="22860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68680" y="5257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Universal Coverage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868680" y="55778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C4"/>
                </a:solidFill>
              </a:rPr>
              <a:t>The Social Security Code extends benefits to gig workers, platform workers, and the unorganised sector for the first time in Indian legal history.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263640" y="278892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0D1B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428232" y="3108960"/>
            <a:ext cx="228600" cy="22860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66560" y="2880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Ease of Doing Business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766560" y="320040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C4"/>
                </a:solidFill>
              </a:rPr>
              <a:t>Single registration, unified returns, and Inspector-cum-Facilitator model replace the fragmented compliance regime, reducing employer burden significantly.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263640" y="397764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0D1B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28232" y="4297680"/>
            <a:ext cx="228600" cy="22860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766560" y="40690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Worker Protection Enhanced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6766560" y="438912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C4"/>
                </a:solidFill>
              </a:rPr>
              <a:t>Fixed-term employment contracts, re-skilling funds, gender equal pay, and mandatory gratuity after 1 year for FTE workers strengthen worker rights.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63640" y="516636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0D1B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6428232" y="5486400"/>
            <a:ext cx="228600" cy="22860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66560" y="52578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Implementation Status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766560" y="55778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BA8C4"/>
                </a:solidFill>
              </a:rPr>
              <a:t>All four codes have received Presidential assent. Rules have been drafted; implementation notifications are pending across most States as of 2024.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spc="300" kern="0" dirty="0">
                <a:solidFill>
                  <a:srgbClr val="FFFFFF"/>
                </a:solidFill>
              </a:rPr>
              <a:t>TIMELINE OF INDIAN LABOUR LAW EVOLUTION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A8C4"/>
                </a:solidFill>
              </a:rPr>
              <a:t>From the Workmen's Compensation Act 1923 to the Four Labour Codes 2019–2020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3383280"/>
            <a:ext cx="11247120" cy="54864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3246120"/>
            <a:ext cx="274320" cy="274320"/>
          </a:xfrm>
          <a:prstGeom prst="ellipse">
            <a:avLst/>
          </a:prstGeom>
          <a:solidFill>
            <a:srgbClr val="8B451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84632" y="1938528"/>
            <a:ext cx="0" cy="1280160"/>
          </a:xfrm>
          <a:prstGeom prst="line">
            <a:avLst/>
          </a:prstGeom>
          <a:noFill/>
          <a:ln w="19050">
            <a:solidFill>
              <a:srgbClr val="8B4513"/>
            </a:solidFill>
            <a:prstDash val="dash"/>
          </a:ln>
        </p:spPr>
      </p:sp>
      <p:sp>
        <p:nvSpPr>
          <p:cNvPr id="8" name="Shape 6"/>
          <p:cNvSpPr/>
          <p:nvPr/>
        </p:nvSpPr>
        <p:spPr>
          <a:xfrm>
            <a:off x="-137160" y="886968"/>
            <a:ext cx="1280160" cy="1005840"/>
          </a:xfrm>
          <a:prstGeom prst="roundRect">
            <a:avLst>
              <a:gd name="adj" fmla="val 5455"/>
            </a:avLst>
          </a:prstGeom>
          <a:solidFill>
            <a:srgbClr val="0A234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-137160" y="93268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B3C"/>
                </a:solidFill>
              </a:rPr>
              <a:t>1923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-137160" y="129844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Workmen's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Compensation Act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1627632" y="3246120"/>
            <a:ext cx="274320" cy="274320"/>
          </a:xfrm>
          <a:prstGeom prst="ellipse">
            <a:avLst/>
          </a:prstGeom>
          <a:solidFill>
            <a:srgbClr val="8B451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764792" y="3520440"/>
            <a:ext cx="0" cy="1280160"/>
          </a:xfrm>
          <a:prstGeom prst="line">
            <a:avLst/>
          </a:prstGeom>
          <a:noFill/>
          <a:ln w="19050">
            <a:solidFill>
              <a:srgbClr val="8B4513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1143000" y="4818888"/>
            <a:ext cx="1280160" cy="1005840"/>
          </a:xfrm>
          <a:prstGeom prst="roundRect">
            <a:avLst>
              <a:gd name="adj" fmla="val 5455"/>
            </a:avLst>
          </a:prstGeom>
          <a:solidFill>
            <a:srgbClr val="0A234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143000" y="4864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B3C"/>
                </a:solidFill>
              </a:rPr>
              <a:t>1926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143000" y="5202936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Trade Unions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Act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907792" y="3246120"/>
            <a:ext cx="274320" cy="274320"/>
          </a:xfrm>
          <a:prstGeom prst="ellipse">
            <a:avLst/>
          </a:prstGeom>
          <a:solidFill>
            <a:srgbClr val="8B451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044952" y="1938528"/>
            <a:ext cx="0" cy="1280160"/>
          </a:xfrm>
          <a:prstGeom prst="line">
            <a:avLst/>
          </a:prstGeom>
          <a:noFill/>
          <a:ln w="19050">
            <a:solidFill>
              <a:srgbClr val="8B4513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2423160" y="886968"/>
            <a:ext cx="1280160" cy="1005840"/>
          </a:xfrm>
          <a:prstGeom prst="roundRect">
            <a:avLst>
              <a:gd name="adj" fmla="val 5455"/>
            </a:avLst>
          </a:prstGeom>
          <a:solidFill>
            <a:srgbClr val="0A234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423160" y="93268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B3C"/>
                </a:solidFill>
              </a:rPr>
              <a:t>1936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423160" y="129844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Payment of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Wages Act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187952" y="3246120"/>
            <a:ext cx="274320" cy="274320"/>
          </a:xfrm>
          <a:prstGeom prst="ellipse">
            <a:avLst/>
          </a:prstGeom>
          <a:solidFill>
            <a:srgbClr val="1B4F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325112" y="3520440"/>
            <a:ext cx="0" cy="1280160"/>
          </a:xfrm>
          <a:prstGeom prst="line">
            <a:avLst/>
          </a:prstGeom>
          <a:noFill/>
          <a:ln w="19050">
            <a:solidFill>
              <a:srgbClr val="1B4F8A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3703320" y="4818888"/>
            <a:ext cx="1280160" cy="1005840"/>
          </a:xfrm>
          <a:prstGeom prst="roundRect">
            <a:avLst>
              <a:gd name="adj" fmla="val 5455"/>
            </a:avLst>
          </a:prstGeom>
          <a:solidFill>
            <a:srgbClr val="0A234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703320" y="4864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B3C"/>
                </a:solidFill>
              </a:rPr>
              <a:t>1947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3703320" y="5202936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Industrial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Disputes Act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5468112" y="3246120"/>
            <a:ext cx="274320" cy="274320"/>
          </a:xfrm>
          <a:prstGeom prst="ellipse">
            <a:avLst/>
          </a:prstGeom>
          <a:solidFill>
            <a:srgbClr val="1B4F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05272" y="1938528"/>
            <a:ext cx="0" cy="1280160"/>
          </a:xfrm>
          <a:prstGeom prst="line">
            <a:avLst/>
          </a:prstGeom>
          <a:noFill/>
          <a:ln w="19050">
            <a:solidFill>
              <a:srgbClr val="1B4F8A"/>
            </a:solidFill>
            <a:prstDash val="dash"/>
          </a:ln>
        </p:spPr>
      </p:sp>
      <p:sp>
        <p:nvSpPr>
          <p:cNvPr id="28" name="Shape 26"/>
          <p:cNvSpPr/>
          <p:nvPr/>
        </p:nvSpPr>
        <p:spPr>
          <a:xfrm>
            <a:off x="4983480" y="886968"/>
            <a:ext cx="1280160" cy="1005840"/>
          </a:xfrm>
          <a:prstGeom prst="roundRect">
            <a:avLst>
              <a:gd name="adj" fmla="val 5455"/>
            </a:avLst>
          </a:prstGeom>
          <a:solidFill>
            <a:srgbClr val="0A234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983480" y="93268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B3C"/>
                </a:solidFill>
              </a:rPr>
              <a:t>1948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983480" y="129844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Factories Act &amp;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Min Wages Act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6748272" y="3246120"/>
            <a:ext cx="274320" cy="274320"/>
          </a:xfrm>
          <a:prstGeom prst="ellipse">
            <a:avLst/>
          </a:prstGeom>
          <a:solidFill>
            <a:srgbClr val="1B4F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885432" y="3520440"/>
            <a:ext cx="0" cy="1280160"/>
          </a:xfrm>
          <a:prstGeom prst="line">
            <a:avLst/>
          </a:prstGeom>
          <a:noFill/>
          <a:ln w="19050">
            <a:solidFill>
              <a:srgbClr val="1B4F8A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6263640" y="4818888"/>
            <a:ext cx="1280160" cy="1005840"/>
          </a:xfrm>
          <a:prstGeom prst="roundRect">
            <a:avLst>
              <a:gd name="adj" fmla="val 5455"/>
            </a:avLst>
          </a:prstGeom>
          <a:solidFill>
            <a:srgbClr val="0A234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6263640" y="4864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B3C"/>
                </a:solidFill>
              </a:rPr>
              <a:t>1952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63640" y="5202936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EPF &amp;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ESI Acts</a:t>
            </a:r>
            <a:endParaRPr lang="en-US" sz="800" dirty="0"/>
          </a:p>
        </p:txBody>
      </p:sp>
      <p:sp>
        <p:nvSpPr>
          <p:cNvPr id="36" name="Shape 34"/>
          <p:cNvSpPr/>
          <p:nvPr/>
        </p:nvSpPr>
        <p:spPr>
          <a:xfrm>
            <a:off x="8028432" y="3246120"/>
            <a:ext cx="274320" cy="27432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165592" y="1938528"/>
            <a:ext cx="0" cy="1280160"/>
          </a:xfrm>
          <a:prstGeom prst="line">
            <a:avLst/>
          </a:prstGeom>
          <a:noFill/>
          <a:ln w="19050">
            <a:solidFill>
              <a:srgbClr val="0D7377"/>
            </a:solidFill>
            <a:prstDash val="dash"/>
          </a:ln>
        </p:spPr>
      </p:sp>
      <p:sp>
        <p:nvSpPr>
          <p:cNvPr id="38" name="Shape 36"/>
          <p:cNvSpPr/>
          <p:nvPr/>
        </p:nvSpPr>
        <p:spPr>
          <a:xfrm>
            <a:off x="7543800" y="886968"/>
            <a:ext cx="1280160" cy="1005840"/>
          </a:xfrm>
          <a:prstGeom prst="roundRect">
            <a:avLst>
              <a:gd name="adj" fmla="val 5455"/>
            </a:avLst>
          </a:prstGeom>
          <a:solidFill>
            <a:srgbClr val="0A234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543800" y="93268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B3C"/>
                </a:solidFill>
              </a:rPr>
              <a:t>1965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543800" y="129844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Payment of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Bonus Act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9217152" y="3246120"/>
            <a:ext cx="274320" cy="274320"/>
          </a:xfrm>
          <a:prstGeom prst="ellipse">
            <a:avLst/>
          </a:prstGeom>
          <a:solidFill>
            <a:srgbClr val="0D73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354312" y="3520440"/>
            <a:ext cx="0" cy="1280160"/>
          </a:xfrm>
          <a:prstGeom prst="line">
            <a:avLst/>
          </a:prstGeom>
          <a:noFill/>
          <a:ln w="19050">
            <a:solidFill>
              <a:srgbClr val="0D7377"/>
            </a:solidFill>
            <a:prstDash val="dash"/>
          </a:ln>
        </p:spPr>
      </p:sp>
      <p:sp>
        <p:nvSpPr>
          <p:cNvPr id="43" name="Shape 41"/>
          <p:cNvSpPr/>
          <p:nvPr/>
        </p:nvSpPr>
        <p:spPr>
          <a:xfrm>
            <a:off x="8732520" y="4818888"/>
            <a:ext cx="1280160" cy="1005840"/>
          </a:xfrm>
          <a:prstGeom prst="roundRect">
            <a:avLst>
              <a:gd name="adj" fmla="val 5455"/>
            </a:avLst>
          </a:prstGeom>
          <a:solidFill>
            <a:srgbClr val="0A234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8732520" y="486460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89B3C"/>
                </a:solidFill>
              </a:rPr>
              <a:t>1972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732520" y="5202936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Gratuity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</a:rPr>
              <a:t>Act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10405872" y="3246120"/>
            <a:ext cx="274320" cy="274320"/>
          </a:xfrm>
          <a:prstGeom prst="ellipse">
            <a:avLst/>
          </a:prstGeom>
          <a:solidFill>
            <a:srgbClr val="C89B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0543032" y="1938528"/>
            <a:ext cx="0" cy="1280160"/>
          </a:xfrm>
          <a:prstGeom prst="line">
            <a:avLst/>
          </a:prstGeom>
          <a:noFill/>
          <a:ln w="19050">
            <a:solidFill>
              <a:srgbClr val="C89B3C"/>
            </a:solidFill>
            <a:prstDash val="dash"/>
          </a:ln>
        </p:spPr>
      </p:sp>
      <p:sp>
        <p:nvSpPr>
          <p:cNvPr id="48" name="Shape 46"/>
          <p:cNvSpPr/>
          <p:nvPr/>
        </p:nvSpPr>
        <p:spPr>
          <a:xfrm>
            <a:off x="9921240" y="886968"/>
            <a:ext cx="1280160" cy="1005840"/>
          </a:xfrm>
          <a:prstGeom prst="roundRect">
            <a:avLst>
              <a:gd name="adj" fmla="val 5455"/>
            </a:avLst>
          </a:prstGeom>
          <a:solidFill>
            <a:srgbClr val="C89B3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9921240" y="932688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342"/>
                </a:solidFill>
              </a:rPr>
              <a:t>2019–20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9921240" y="1298448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A2342"/>
                </a:solidFill>
              </a:rPr>
              <a:t>Four Labour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0A2342"/>
                </a:solidFill>
              </a:rPr>
              <a:t>Codes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914400" y="6400800"/>
            <a:ext cx="274320" cy="13716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261872" y="6355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Colonial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3657600" y="6400800"/>
            <a:ext cx="274320" cy="13716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005072" y="6355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Post-Independence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6400800" y="6400800"/>
            <a:ext cx="274320" cy="13716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48272" y="6355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Modern Era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9144000" y="6400800"/>
            <a:ext cx="274320" cy="13716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491472" y="6355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</a:rPr>
              <a:t>New Era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71A33"/>
          </a:solidFill>
          <a:ln w="12700">
            <a:solidFill>
              <a:srgbClr val="071A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FFFFFF"/>
                </a:solidFill>
              </a:rPr>
              <a:t>FROM 29 LAWS TO 4 CODES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9B3C"/>
                </a:solidFill>
              </a:rPr>
              <a:t>India's Revolutionary Labour Law Consolidation Framework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0D737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9728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Code 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Wages 2019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645920" y="2103120"/>
            <a:ext cx="0" cy="320040"/>
          </a:xfrm>
          <a:prstGeom prst="line">
            <a:avLst/>
          </a:prstGeom>
          <a:noFill/>
          <a:ln w="254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23317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7377"/>
                </a:solidFill>
              </a:rPr>
              <a:t>▼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606040"/>
            <a:ext cx="2743200" cy="2670048"/>
          </a:xfrm>
          <a:prstGeom prst="roundRect">
            <a:avLst>
              <a:gd name="adj" fmla="val 2740"/>
            </a:avLst>
          </a:prstGeom>
          <a:solidFill>
            <a:srgbClr val="0D1B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84048" y="2697480"/>
            <a:ext cx="2523744" cy="502920"/>
          </a:xfrm>
          <a:prstGeom prst="roundRect">
            <a:avLst>
              <a:gd name="adj" fmla="val 10909"/>
            </a:avLst>
          </a:prstGeom>
          <a:solidFill>
            <a:srgbClr val="162135"/>
          </a:solidFill>
          <a:ln/>
        </p:spPr>
      </p:sp>
      <p:sp>
        <p:nvSpPr>
          <p:cNvPr id="11" name="Shape 9"/>
          <p:cNvSpPr/>
          <p:nvPr/>
        </p:nvSpPr>
        <p:spPr>
          <a:xfrm>
            <a:off x="457200" y="2834640"/>
            <a:ext cx="201168" cy="2011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788920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8C4"/>
                </a:solidFill>
              </a:rPr>
              <a:t>Payment of Wages Act 1936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84048" y="3319272"/>
            <a:ext cx="2523744" cy="502920"/>
          </a:xfrm>
          <a:prstGeom prst="roundRect">
            <a:avLst>
              <a:gd name="adj" fmla="val 10909"/>
            </a:avLst>
          </a:prstGeom>
          <a:solidFill>
            <a:srgbClr val="162135"/>
          </a:solidFill>
          <a:ln/>
        </p:spPr>
      </p:sp>
      <p:sp>
        <p:nvSpPr>
          <p:cNvPr id="14" name="Shape 12"/>
          <p:cNvSpPr/>
          <p:nvPr/>
        </p:nvSpPr>
        <p:spPr>
          <a:xfrm>
            <a:off x="457200" y="3456432"/>
            <a:ext cx="201168" cy="2011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410712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8C4"/>
                </a:solidFill>
              </a:rPr>
              <a:t>Minimum Wages Act 1948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84048" y="3941064"/>
            <a:ext cx="2523744" cy="502920"/>
          </a:xfrm>
          <a:prstGeom prst="roundRect">
            <a:avLst>
              <a:gd name="adj" fmla="val 10909"/>
            </a:avLst>
          </a:prstGeom>
          <a:solidFill>
            <a:srgbClr val="162135"/>
          </a:solidFill>
          <a:ln/>
        </p:spPr>
      </p:sp>
      <p:sp>
        <p:nvSpPr>
          <p:cNvPr id="17" name="Shape 15"/>
          <p:cNvSpPr/>
          <p:nvPr/>
        </p:nvSpPr>
        <p:spPr>
          <a:xfrm>
            <a:off x="457200" y="4078224"/>
            <a:ext cx="201168" cy="2011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4032504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8C4"/>
                </a:solidFill>
              </a:rPr>
              <a:t>Payment of Bonus Act 1965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84048" y="4562856"/>
            <a:ext cx="2523744" cy="502920"/>
          </a:xfrm>
          <a:prstGeom prst="roundRect">
            <a:avLst>
              <a:gd name="adj" fmla="val 10909"/>
            </a:avLst>
          </a:prstGeom>
          <a:solidFill>
            <a:srgbClr val="162135"/>
          </a:solidFill>
          <a:ln/>
        </p:spPr>
      </p:sp>
      <p:sp>
        <p:nvSpPr>
          <p:cNvPr id="20" name="Shape 18"/>
          <p:cNvSpPr/>
          <p:nvPr/>
        </p:nvSpPr>
        <p:spPr>
          <a:xfrm>
            <a:off x="457200" y="4700016"/>
            <a:ext cx="201168" cy="2011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4654296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8C4"/>
                </a:solidFill>
              </a:rPr>
              <a:t>Equal Remuneration Act 1976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3246120" y="105156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1B4F8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3246120" y="109728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Industrial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Relations Code 2020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17720" y="2103120"/>
            <a:ext cx="0" cy="320040"/>
          </a:xfrm>
          <a:prstGeom prst="line">
            <a:avLst/>
          </a:prstGeom>
          <a:noFill/>
          <a:ln w="25400">
            <a:solidFill>
              <a:srgbClr val="1B4F8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434840" y="23317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4F8A"/>
                </a:solidFill>
              </a:rPr>
              <a:t>▼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46120" y="2606040"/>
            <a:ext cx="2743200" cy="2048256"/>
          </a:xfrm>
          <a:prstGeom prst="roundRect">
            <a:avLst>
              <a:gd name="adj" fmla="val 3571"/>
            </a:avLst>
          </a:prstGeom>
          <a:solidFill>
            <a:srgbClr val="0D1B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355848" y="2697480"/>
            <a:ext cx="2523744" cy="502920"/>
          </a:xfrm>
          <a:prstGeom prst="roundRect">
            <a:avLst>
              <a:gd name="adj" fmla="val 10909"/>
            </a:avLst>
          </a:prstGeom>
          <a:solidFill>
            <a:srgbClr val="162135"/>
          </a:solidFill>
          <a:ln/>
        </p:spPr>
      </p:sp>
      <p:sp>
        <p:nvSpPr>
          <p:cNvPr id="28" name="Shape 26"/>
          <p:cNvSpPr/>
          <p:nvPr/>
        </p:nvSpPr>
        <p:spPr>
          <a:xfrm>
            <a:off x="3429000" y="2834640"/>
            <a:ext cx="201168" cy="201168"/>
          </a:xfrm>
          <a:prstGeom prst="ellipse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21608" y="2788920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8C4"/>
                </a:solidFill>
              </a:rPr>
              <a:t>Trade Unions Act 1926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355848" y="3319272"/>
            <a:ext cx="2523744" cy="502920"/>
          </a:xfrm>
          <a:prstGeom prst="roundRect">
            <a:avLst>
              <a:gd name="adj" fmla="val 10909"/>
            </a:avLst>
          </a:prstGeom>
          <a:solidFill>
            <a:srgbClr val="162135"/>
          </a:solidFill>
          <a:ln/>
        </p:spPr>
      </p:sp>
      <p:sp>
        <p:nvSpPr>
          <p:cNvPr id="31" name="Shape 29"/>
          <p:cNvSpPr/>
          <p:nvPr/>
        </p:nvSpPr>
        <p:spPr>
          <a:xfrm>
            <a:off x="3429000" y="3456432"/>
            <a:ext cx="201168" cy="201168"/>
          </a:xfrm>
          <a:prstGeom prst="ellipse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721608" y="3410712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8C4"/>
                </a:solidFill>
              </a:rPr>
              <a:t>Industrial Employment (SO) Act 1946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3355848" y="3941064"/>
            <a:ext cx="2523744" cy="502920"/>
          </a:xfrm>
          <a:prstGeom prst="roundRect">
            <a:avLst>
              <a:gd name="adj" fmla="val 10909"/>
            </a:avLst>
          </a:prstGeom>
          <a:solidFill>
            <a:srgbClr val="162135"/>
          </a:solidFill>
          <a:ln/>
        </p:spPr>
      </p:sp>
      <p:sp>
        <p:nvSpPr>
          <p:cNvPr id="34" name="Shape 32"/>
          <p:cNvSpPr/>
          <p:nvPr/>
        </p:nvSpPr>
        <p:spPr>
          <a:xfrm>
            <a:off x="3429000" y="4078224"/>
            <a:ext cx="201168" cy="201168"/>
          </a:xfrm>
          <a:prstGeom prst="ellipse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721608" y="4032504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8C4"/>
                </a:solidFill>
              </a:rPr>
              <a:t>Industrial Disputes Act 1947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6217920" y="105156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C89B3C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217920" y="109728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Social Security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Code 2020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589520" y="2103120"/>
            <a:ext cx="0" cy="320040"/>
          </a:xfrm>
          <a:prstGeom prst="line">
            <a:avLst/>
          </a:prstGeom>
          <a:noFill/>
          <a:ln w="25400">
            <a:solidFill>
              <a:srgbClr val="C89B3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06640" y="23317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89B3C"/>
                </a:solidFill>
              </a:rPr>
              <a:t>▼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217920" y="2606040"/>
            <a:ext cx="2743200" cy="3913632"/>
          </a:xfrm>
          <a:prstGeom prst="roundRect">
            <a:avLst>
              <a:gd name="adj" fmla="val 2667"/>
            </a:avLst>
          </a:prstGeom>
          <a:solidFill>
            <a:srgbClr val="0D1B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6327648" y="2697480"/>
            <a:ext cx="2523744" cy="502920"/>
          </a:xfrm>
          <a:prstGeom prst="roundRect">
            <a:avLst>
              <a:gd name="adj" fmla="val 10909"/>
            </a:avLst>
          </a:prstGeom>
          <a:solidFill>
            <a:srgbClr val="162135"/>
          </a:solidFill>
          <a:ln/>
        </p:spPr>
      </p:sp>
      <p:sp>
        <p:nvSpPr>
          <p:cNvPr id="42" name="Shape 40"/>
          <p:cNvSpPr/>
          <p:nvPr/>
        </p:nvSpPr>
        <p:spPr>
          <a:xfrm>
            <a:off x="6400800" y="2834640"/>
            <a:ext cx="201168" cy="201168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93408" y="2788920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8C4"/>
                </a:solidFill>
              </a:rPr>
              <a:t>EPF Act 1952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327648" y="3319272"/>
            <a:ext cx="2523744" cy="502920"/>
          </a:xfrm>
          <a:prstGeom prst="roundRect">
            <a:avLst>
              <a:gd name="adj" fmla="val 10909"/>
            </a:avLst>
          </a:prstGeom>
          <a:solidFill>
            <a:srgbClr val="162135"/>
          </a:solidFill>
          <a:ln/>
        </p:spPr>
      </p:sp>
      <p:sp>
        <p:nvSpPr>
          <p:cNvPr id="45" name="Shape 4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93408" y="3410712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8C4"/>
                </a:solidFill>
              </a:rPr>
              <a:t>ESI Act 1948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6327648" y="3941064"/>
            <a:ext cx="2523744" cy="502920"/>
          </a:xfrm>
          <a:prstGeom prst="roundRect">
            <a:avLst>
              <a:gd name="adj" fmla="val 10909"/>
            </a:avLst>
          </a:prstGeom>
          <a:solidFill>
            <a:srgbClr val="162135"/>
          </a:solidFill>
          <a:ln/>
        </p:spPr>
      </p:sp>
      <p:sp>
        <p:nvSpPr>
          <p:cNvPr id="48" name="Shape 46"/>
          <p:cNvSpPr/>
          <p:nvPr/>
        </p:nvSpPr>
        <p:spPr>
          <a:xfrm>
            <a:off x="6400800" y="4078224"/>
            <a:ext cx="201168" cy="201168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93408" y="4032504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8C4"/>
                </a:solidFill>
              </a:rPr>
              <a:t>Maternity Benefit Act 1961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6327648" y="4562856"/>
            <a:ext cx="2523744" cy="502920"/>
          </a:xfrm>
          <a:prstGeom prst="roundRect">
            <a:avLst>
              <a:gd name="adj" fmla="val 10909"/>
            </a:avLst>
          </a:prstGeom>
          <a:solidFill>
            <a:srgbClr val="162135"/>
          </a:solidFill>
          <a:ln/>
        </p:spPr>
      </p:sp>
      <p:sp>
        <p:nvSpPr>
          <p:cNvPr id="51" name="Shape 49"/>
          <p:cNvSpPr/>
          <p:nvPr/>
        </p:nvSpPr>
        <p:spPr>
          <a:xfrm>
            <a:off x="6400800" y="4700016"/>
            <a:ext cx="201168" cy="201168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93408" y="4654296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8C4"/>
                </a:solidFill>
              </a:rPr>
              <a:t>Payment of Gratuity Act 1972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6327648" y="5184648"/>
            <a:ext cx="2523744" cy="502920"/>
          </a:xfrm>
          <a:prstGeom prst="roundRect">
            <a:avLst>
              <a:gd name="adj" fmla="val 10909"/>
            </a:avLst>
          </a:prstGeom>
          <a:solidFill>
            <a:srgbClr val="162135"/>
          </a:solidFill>
          <a:ln/>
        </p:spPr>
      </p:sp>
      <p:sp>
        <p:nvSpPr>
          <p:cNvPr id="54" name="Shape 52"/>
          <p:cNvSpPr/>
          <p:nvPr/>
        </p:nvSpPr>
        <p:spPr>
          <a:xfrm>
            <a:off x="6400800" y="5321808"/>
            <a:ext cx="201168" cy="201168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693408" y="527608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8C4"/>
                </a:solidFill>
              </a:rPr>
              <a:t>BOCW Act 1996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6327648" y="5806440"/>
            <a:ext cx="2523744" cy="502920"/>
          </a:xfrm>
          <a:prstGeom prst="roundRect">
            <a:avLst>
              <a:gd name="adj" fmla="val 10909"/>
            </a:avLst>
          </a:prstGeom>
          <a:solidFill>
            <a:srgbClr val="162135"/>
          </a:solidFill>
          <a:ln/>
        </p:spPr>
      </p:sp>
      <p:sp>
        <p:nvSpPr>
          <p:cNvPr id="57" name="Shape 55"/>
          <p:cNvSpPr/>
          <p:nvPr/>
        </p:nvSpPr>
        <p:spPr>
          <a:xfrm>
            <a:off x="6400800" y="5943600"/>
            <a:ext cx="201168" cy="201168"/>
          </a:xfrm>
          <a:prstGeom prst="ellipse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693408" y="5897880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8C4"/>
                </a:solidFill>
              </a:rPr>
              <a:t>Unorganised Workers SS Act 2008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9189720" y="1051560"/>
            <a:ext cx="2743200" cy="1051560"/>
          </a:xfrm>
          <a:prstGeom prst="roundRect">
            <a:avLst>
              <a:gd name="adj" fmla="val 8696"/>
            </a:avLst>
          </a:prstGeom>
          <a:solidFill>
            <a:srgbClr val="1B6B4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9189720" y="1097280"/>
            <a:ext cx="2743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Occupational Safety,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Health &amp; Working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Conditions Code 2020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10561320" y="2103120"/>
            <a:ext cx="0" cy="320040"/>
          </a:xfrm>
          <a:prstGeom prst="line">
            <a:avLst/>
          </a:prstGeom>
          <a:noFill/>
          <a:ln w="25400">
            <a:solidFill>
              <a:srgbClr val="1B6B4D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0378440" y="23317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B6B4D"/>
                </a:solidFill>
              </a:rPr>
              <a:t>▼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9189720" y="2606040"/>
            <a:ext cx="2743200" cy="3291840"/>
          </a:xfrm>
          <a:prstGeom prst="roundRect">
            <a:avLst>
              <a:gd name="adj" fmla="val 2667"/>
            </a:avLst>
          </a:prstGeom>
          <a:solidFill>
            <a:srgbClr val="0D1B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9299448" y="2697480"/>
            <a:ext cx="2523744" cy="502920"/>
          </a:xfrm>
          <a:prstGeom prst="roundRect">
            <a:avLst>
              <a:gd name="adj" fmla="val 10909"/>
            </a:avLst>
          </a:prstGeom>
          <a:solidFill>
            <a:srgbClr val="162135"/>
          </a:solidFill>
          <a:ln/>
        </p:spPr>
      </p:sp>
      <p:sp>
        <p:nvSpPr>
          <p:cNvPr id="65" name="Shape 63"/>
          <p:cNvSpPr/>
          <p:nvPr/>
        </p:nvSpPr>
        <p:spPr>
          <a:xfrm>
            <a:off x="9372600" y="2834640"/>
            <a:ext cx="201168" cy="201168"/>
          </a:xfrm>
          <a:prstGeom prst="ellipse">
            <a:avLst/>
          </a:prstGeom>
          <a:solidFill>
            <a:srgbClr val="1B6B4D"/>
          </a:solidFill>
          <a:ln w="12700">
            <a:solidFill>
              <a:srgbClr val="1B6B4D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665208" y="2788920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8C4"/>
                </a:solidFill>
              </a:rPr>
              <a:t>Factories Act 1948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9299448" y="3319272"/>
            <a:ext cx="2523744" cy="502920"/>
          </a:xfrm>
          <a:prstGeom prst="roundRect">
            <a:avLst>
              <a:gd name="adj" fmla="val 10909"/>
            </a:avLst>
          </a:prstGeom>
          <a:solidFill>
            <a:srgbClr val="162135"/>
          </a:solidFill>
          <a:ln/>
        </p:spPr>
      </p:sp>
      <p:sp>
        <p:nvSpPr>
          <p:cNvPr id="68" name="Shape 66"/>
          <p:cNvSpPr/>
          <p:nvPr/>
        </p:nvSpPr>
        <p:spPr>
          <a:xfrm>
            <a:off x="9372600" y="3456432"/>
            <a:ext cx="201168" cy="201168"/>
          </a:xfrm>
          <a:prstGeom prst="ellipse">
            <a:avLst/>
          </a:prstGeom>
          <a:solidFill>
            <a:srgbClr val="1B6B4D"/>
          </a:solidFill>
          <a:ln w="12700">
            <a:solidFill>
              <a:srgbClr val="1B6B4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665208" y="3410712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8C4"/>
                </a:solidFill>
              </a:rPr>
              <a:t>Mines Act 1952</a:t>
            </a:r>
            <a:endParaRPr lang="en-US" sz="850" dirty="0"/>
          </a:p>
        </p:txBody>
      </p:sp>
      <p:sp>
        <p:nvSpPr>
          <p:cNvPr id="70" name="Shape 68"/>
          <p:cNvSpPr/>
          <p:nvPr/>
        </p:nvSpPr>
        <p:spPr>
          <a:xfrm>
            <a:off x="9299448" y="3941064"/>
            <a:ext cx="2523744" cy="502920"/>
          </a:xfrm>
          <a:prstGeom prst="roundRect">
            <a:avLst>
              <a:gd name="adj" fmla="val 10909"/>
            </a:avLst>
          </a:prstGeom>
          <a:solidFill>
            <a:srgbClr val="162135"/>
          </a:solidFill>
          <a:ln/>
        </p:spPr>
      </p:sp>
      <p:sp>
        <p:nvSpPr>
          <p:cNvPr id="71" name="Shape 69"/>
          <p:cNvSpPr/>
          <p:nvPr/>
        </p:nvSpPr>
        <p:spPr>
          <a:xfrm>
            <a:off x="9372600" y="4078224"/>
            <a:ext cx="201168" cy="201168"/>
          </a:xfrm>
          <a:prstGeom prst="ellipse">
            <a:avLst/>
          </a:prstGeom>
          <a:solidFill>
            <a:srgbClr val="1B6B4D"/>
          </a:solidFill>
          <a:ln w="12700">
            <a:solidFill>
              <a:srgbClr val="1B6B4D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9665208" y="4032504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8C4"/>
                </a:solidFill>
              </a:rPr>
              <a:t>Plantation Labour Act 1951</a:t>
            </a:r>
            <a:endParaRPr lang="en-US" sz="850" dirty="0"/>
          </a:p>
        </p:txBody>
      </p:sp>
      <p:sp>
        <p:nvSpPr>
          <p:cNvPr id="73" name="Shape 71"/>
          <p:cNvSpPr/>
          <p:nvPr/>
        </p:nvSpPr>
        <p:spPr>
          <a:xfrm>
            <a:off x="9299448" y="4562856"/>
            <a:ext cx="2523744" cy="502920"/>
          </a:xfrm>
          <a:prstGeom prst="roundRect">
            <a:avLst>
              <a:gd name="adj" fmla="val 10909"/>
            </a:avLst>
          </a:prstGeom>
          <a:solidFill>
            <a:srgbClr val="162135"/>
          </a:solidFill>
          <a:ln/>
        </p:spPr>
      </p:sp>
      <p:sp>
        <p:nvSpPr>
          <p:cNvPr id="74" name="Shape 72"/>
          <p:cNvSpPr/>
          <p:nvPr/>
        </p:nvSpPr>
        <p:spPr>
          <a:xfrm>
            <a:off x="9372600" y="4700016"/>
            <a:ext cx="201168" cy="201168"/>
          </a:xfrm>
          <a:prstGeom prst="ellipse">
            <a:avLst/>
          </a:prstGeom>
          <a:solidFill>
            <a:srgbClr val="1B6B4D"/>
          </a:solidFill>
          <a:ln w="12700">
            <a:solidFill>
              <a:srgbClr val="1B6B4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9665208" y="4654296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8C4"/>
                </a:solidFill>
              </a:rPr>
              <a:t>Building &amp; Other Construction Workers Act 1996</a:t>
            </a:r>
            <a:endParaRPr lang="en-US" sz="850" dirty="0"/>
          </a:p>
        </p:txBody>
      </p:sp>
      <p:sp>
        <p:nvSpPr>
          <p:cNvPr id="76" name="Shape 74"/>
          <p:cNvSpPr/>
          <p:nvPr/>
        </p:nvSpPr>
        <p:spPr>
          <a:xfrm>
            <a:off x="9299448" y="5184648"/>
            <a:ext cx="2523744" cy="502920"/>
          </a:xfrm>
          <a:prstGeom prst="roundRect">
            <a:avLst>
              <a:gd name="adj" fmla="val 10909"/>
            </a:avLst>
          </a:prstGeom>
          <a:solidFill>
            <a:srgbClr val="162135"/>
          </a:solidFill>
          <a:ln/>
        </p:spPr>
      </p:sp>
      <p:sp>
        <p:nvSpPr>
          <p:cNvPr id="77" name="Shape 75"/>
          <p:cNvSpPr/>
          <p:nvPr/>
        </p:nvSpPr>
        <p:spPr>
          <a:xfrm>
            <a:off x="9372600" y="5321808"/>
            <a:ext cx="201168" cy="201168"/>
          </a:xfrm>
          <a:prstGeom prst="ellipse">
            <a:avLst/>
          </a:prstGeom>
          <a:solidFill>
            <a:srgbClr val="1B6B4D"/>
          </a:solidFill>
          <a:ln w="12700">
            <a:solidFill>
              <a:srgbClr val="1B6B4D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665208" y="5276088"/>
            <a:ext cx="20848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BA8C4"/>
                </a:solidFill>
              </a:rPr>
              <a:t>Contract Labour Act 1970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274320" y="6400800"/>
            <a:ext cx="11612880" cy="347472"/>
          </a:xfrm>
          <a:prstGeom prst="roundRect">
            <a:avLst>
              <a:gd name="adj" fmla="val 15789"/>
            </a:avLst>
          </a:prstGeom>
          <a:solidFill>
            <a:srgbClr val="C89B3C"/>
          </a:solidFill>
          <a:ln/>
        </p:spPr>
      </p:sp>
      <p:sp>
        <p:nvSpPr>
          <p:cNvPr id="80" name="Text 78"/>
          <p:cNvSpPr/>
          <p:nvPr/>
        </p:nvSpPr>
        <p:spPr>
          <a:xfrm>
            <a:off x="274320" y="6419088"/>
            <a:ext cx="11612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2342"/>
                </a:solidFill>
              </a:rPr>
              <a:t>TOTAL: 44 Central Labour Laws consolidated into 4 Codes | 8 State Laws also subsumed | Common definitions, single registration, unified returns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</a:rPr>
              <a:t>CODE ON WAGES, 2019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4F0EC"/>
                </a:solidFill>
              </a:rPr>
              <a:t>Act No. 29 of 2019 | Replaced: Payment of Wages Act, Minimum Wages Act, Payment of Bonus Act, Equal Remuneration Act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5669280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5669280" cy="32004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09728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Universal Minimum Wages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463040"/>
            <a:ext cx="53949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Applies to ALL establishments &amp; workers. Central Govt sets a FLOOR WAGE below which no State can fix minimum wages. Eliminates the 'scheduled employment' concept.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2926080"/>
            <a:ext cx="5669280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2926080"/>
            <a:ext cx="5669280" cy="32004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97180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Uniform Wage Definition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11480" y="3337560"/>
            <a:ext cx="53949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Single definition covering basic pay + DA + retaining allowance. Items excluded: bonus, HRA, PF contributions, OT, commission, gratuity. 50% cap on exclusions.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4800600"/>
            <a:ext cx="5669280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74320" y="4800600"/>
            <a:ext cx="5669280" cy="3200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484632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Payment of Wages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11480" y="5212080"/>
            <a:ext cx="53949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Wages must be paid on time: daily/shift-end, weekly (last working day), fortnightly (within 2 days), monthly (within 7th of next month). Electronic payment allowed.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63640" y="1051560"/>
            <a:ext cx="5669280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1051560"/>
            <a:ext cx="5669280" cy="32004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109728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Equal Remuneration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00800" y="1463040"/>
            <a:ext cx="53949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Prohibition of gender discrimination in wages for same/similar work. Employer cannot reduce wages of any employee to comply. Applies to recruitment as well.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63640" y="2926080"/>
            <a:ext cx="5669280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263640" y="2926080"/>
            <a:ext cx="5669280" cy="32004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00800" y="297180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Bonus (Chapter IV)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0" y="3337560"/>
            <a:ext cx="53949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Min bonus: 8.33% of wages or ₹100 (whichever higher). Max: 20% of wages. Applicable to establishments with 20+ employees. Payable within 8 months of year-end.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263640" y="4800600"/>
            <a:ext cx="5669280" cy="1719072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63640" y="4800600"/>
            <a:ext cx="5669280" cy="32004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00800" y="4846320"/>
            <a:ext cx="5394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Inspector-cum-Facilitator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400800" y="5212080"/>
            <a:ext cx="539496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Advisory role first — must give written direction and time to comply before prosecution. Web-based inspection scheme. Randomised inspection to reduce discretionary power.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</a:rPr>
              <a:t>INDUSTRIAL RELATIONS CODE, 2020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5D8F0"/>
                </a:solidFill>
              </a:rPr>
              <a:t>Act No. 35 of 2020 | Replaced: Trade Unions Act 1926, Industrial Employment (SO) Act 1946, Industrial Disputes Act 1947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3749040" cy="562356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3749040" cy="777240"/>
          </a:xfrm>
          <a:prstGeom prst="roundRect">
            <a:avLst>
              <a:gd name="adj" fmla="val 11765"/>
            </a:avLst>
          </a:prstGeom>
          <a:solidFill>
            <a:srgbClr val="1B4F8A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16128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👥  TRADE UNIONS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39112"/>
            <a:ext cx="201168" cy="201168"/>
          </a:xfrm>
          <a:prstGeom prst="ellipse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58952" y="19659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Min 7 members to register; 10% or 100 workers (whichever less)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788920"/>
            <a:ext cx="201168" cy="201168"/>
          </a:xfrm>
          <a:prstGeom prst="ellipse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8952" y="2715768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Single negotiating union if 51%+ support; else negotiating council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3538728"/>
            <a:ext cx="201168" cy="201168"/>
          </a:xfrm>
          <a:prstGeom prst="ellipse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8952" y="3465576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Council for unions with 20%+ support each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4288536"/>
            <a:ext cx="201168" cy="201168"/>
          </a:xfrm>
          <a:prstGeom prst="ellipse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8952" y="4215384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Recognition valid for 3–5 years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5038344"/>
            <a:ext cx="201168" cy="201168"/>
          </a:xfrm>
          <a:prstGeom prst="ellipse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8952" y="496519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Electronic application for registration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5788152"/>
            <a:ext cx="201168" cy="201168"/>
          </a:xfrm>
          <a:prstGeom prst="ellipse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8952" y="571500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Immunity from civil suits for trade union activities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51960" y="1051560"/>
            <a:ext cx="3749040" cy="562356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251960" y="1051560"/>
            <a:ext cx="3749040" cy="777240"/>
          </a:xfrm>
          <a:prstGeom prst="roundRect">
            <a:avLst>
              <a:gd name="adj" fmla="val 11765"/>
            </a:avLst>
          </a:prstGeom>
          <a:solidFill>
            <a:srgbClr val="0D7377"/>
          </a:solidFill>
          <a:ln/>
        </p:spPr>
      </p:sp>
      <p:sp>
        <p:nvSpPr>
          <p:cNvPr id="22" name="Text 20"/>
          <p:cNvSpPr/>
          <p:nvPr/>
        </p:nvSpPr>
        <p:spPr>
          <a:xfrm>
            <a:off x="4389120" y="116128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📋  STANDING ORDERS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434840" y="2039112"/>
            <a:ext cx="201168" cy="2011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6592" y="19659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Applicable to establishments with 300+ workers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434840" y="2788920"/>
            <a:ext cx="201168" cy="2011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36592" y="2715768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Model Standing Orders by Central Govt apply till certified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434840" y="3538728"/>
            <a:ext cx="201168" cy="2011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36592" y="3465576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Employer must prepare draft within 6 months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434840" y="4288536"/>
            <a:ext cx="201168" cy="2011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36592" y="4215384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Certifying officer completes certification within 60 days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434840" y="5038344"/>
            <a:ext cx="201168" cy="2011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36592" y="496519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Fixed Term Employment explicitly classified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434840" y="5788152"/>
            <a:ext cx="201168" cy="20116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36592" y="571500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Subsistence allowance: 50% first 90 days; 75% thereafter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229600" y="1051560"/>
            <a:ext cx="3749040" cy="5623560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8229600" y="1051560"/>
            <a:ext cx="3749040" cy="777240"/>
          </a:xfrm>
          <a:prstGeom prst="roundRect">
            <a:avLst>
              <a:gd name="adj" fmla="val 11765"/>
            </a:avLst>
          </a:prstGeom>
          <a:solidFill>
            <a:srgbClr val="0A2342"/>
          </a:solidFill>
          <a:ln/>
        </p:spPr>
      </p:sp>
      <p:sp>
        <p:nvSpPr>
          <p:cNvPr id="37" name="Text 35"/>
          <p:cNvSpPr/>
          <p:nvPr/>
        </p:nvSpPr>
        <p:spPr>
          <a:xfrm>
            <a:off x="8366760" y="1161288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⚖️  INDUSTRIAL DISPUTES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8412480" y="2039112"/>
            <a:ext cx="201168" cy="201168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714232" y="196596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Industrial Tribunal replaces Labour Court + Tribunal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8412480" y="2788920"/>
            <a:ext cx="201168" cy="201168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714232" y="2715768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2-member bench: Judicial + Administrative Member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8412480" y="3538728"/>
            <a:ext cx="201168" cy="201168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714232" y="3465576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Grievance Redressal Committee mandatory (20+ workers)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412480" y="4288536"/>
            <a:ext cx="201168" cy="201168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714232" y="4215384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Strike/lockout notice: 60 days before + 14 day cooling period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8412480" y="5038344"/>
            <a:ext cx="201168" cy="201168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714232" y="4965192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Layoff/retrenchment/closure thresholds: 300 workers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8412480" y="5788152"/>
            <a:ext cx="201168" cy="201168"/>
          </a:xfrm>
          <a:prstGeom prst="ellipse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714232" y="5715000"/>
            <a:ext cx="3154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</a:rPr>
              <a:t>Worker Re-skilling Fund = 15 days' wages per retrenched worker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71A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0A2342"/>
                </a:solidFill>
              </a:rPr>
              <a:t>SOCIAL SECURITY CODE, 2020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66928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A2342"/>
                </a:solidFill>
              </a:rPr>
              <a:t>Act No. 36 of 2020 | Replaced: EPF Act, ESI Act, Gratuity Act, Maternity Benefit Act, BOCW Act, Unorganised Workers SS Act + 3 more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3749040" cy="2377440"/>
          </a:xfrm>
          <a:prstGeom prst="roundRect">
            <a:avLst>
              <a:gd name="adj" fmla="val 3846"/>
            </a:avLst>
          </a:prstGeom>
          <a:solidFill>
            <a:srgbClr val="0D1B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97280"/>
            <a:ext cx="3749040" cy="41148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70432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Provident Fund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6459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</a:rPr>
              <a:t>Coverage: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371600" y="16459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8C4"/>
                </a:solidFill>
              </a:rPr>
              <a:t>20+ employees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22219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</a:rPr>
              <a:t>Contribution: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1371600" y="22219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8C4"/>
                </a:solidFill>
              </a:rPr>
              <a:t>12% E + 12% ER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11480" y="279806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</a:rPr>
              <a:t>Threshold: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371600" y="279806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8C4"/>
                </a:solidFill>
              </a:rPr>
              <a:t>₹15,000 pm basic (exemption)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251960" y="1097280"/>
            <a:ext cx="3749040" cy="2377440"/>
          </a:xfrm>
          <a:prstGeom prst="roundRect">
            <a:avLst>
              <a:gd name="adj" fmla="val 3846"/>
            </a:avLst>
          </a:prstGeom>
          <a:solidFill>
            <a:srgbClr val="0D1B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51960" y="1097280"/>
            <a:ext cx="3749040" cy="411480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61688" y="1170432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ESI (Health Ins.)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389120" y="16459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F8A"/>
                </a:solidFill>
              </a:rPr>
              <a:t>Coverage: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349240" y="16459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8C4"/>
                </a:solidFill>
              </a:rPr>
              <a:t>10+ employees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389120" y="22219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F8A"/>
                </a:solidFill>
              </a:rPr>
              <a:t>Contribution: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349240" y="22219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8C4"/>
                </a:solidFill>
              </a:rPr>
              <a:t>0.75% E + 3.25% ER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389120" y="279806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F8A"/>
                </a:solidFill>
              </a:rPr>
              <a:t>Threshold: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349240" y="279806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8C4"/>
                </a:solidFill>
              </a:rPr>
              <a:t>Wages ≤ ₹21,000 pm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229600" y="1097280"/>
            <a:ext cx="3749040" cy="2377440"/>
          </a:xfrm>
          <a:prstGeom prst="roundRect">
            <a:avLst>
              <a:gd name="adj" fmla="val 3846"/>
            </a:avLst>
          </a:prstGeom>
          <a:solidFill>
            <a:srgbClr val="0D1B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229600" y="1097280"/>
            <a:ext cx="3749040" cy="411480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39328" y="1170432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Gratuity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366760" y="164592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9B3C"/>
                </a:solidFill>
              </a:rPr>
              <a:t>Coverage: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9326880" y="164592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8C4"/>
                </a:solidFill>
              </a:rPr>
              <a:t>10+ employees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366760" y="222199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9B3C"/>
                </a:solidFill>
              </a:rPr>
              <a:t>Contribution: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9326880" y="222199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8C4"/>
                </a:solidFill>
              </a:rPr>
              <a:t>15 days' wages per year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8366760" y="279806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9B3C"/>
                </a:solidFill>
              </a:rPr>
              <a:t>Threshold: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326880" y="279806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8C4"/>
                </a:solidFill>
              </a:rPr>
              <a:t>5 years continuous service (1 yr for FTE)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74320" y="3703320"/>
            <a:ext cx="3749040" cy="2377440"/>
          </a:xfrm>
          <a:prstGeom prst="roundRect">
            <a:avLst>
              <a:gd name="adj" fmla="val 3846"/>
            </a:avLst>
          </a:prstGeom>
          <a:solidFill>
            <a:srgbClr val="0D1B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274320" y="3703320"/>
            <a:ext cx="3749040" cy="41148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84048" y="3776472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Maternity Benefit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11480" y="42519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59B6"/>
                </a:solidFill>
              </a:rPr>
              <a:t>Coverage: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1371600" y="42519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8C4"/>
                </a:solidFill>
              </a:rPr>
              <a:t>10+ employees (women)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11480" y="482803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59B6"/>
                </a:solidFill>
              </a:rPr>
              <a:t>Contribution: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1371600" y="482803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8C4"/>
                </a:solidFill>
              </a:rPr>
              <a:t>26 weeks paid leave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11480" y="540410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59B6"/>
                </a:solidFill>
              </a:rPr>
              <a:t>Threshold: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1371600" y="540410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8C4"/>
                </a:solidFill>
              </a:rPr>
              <a:t>12 weeks for 3rd+ child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251960" y="3703320"/>
            <a:ext cx="3749040" cy="2377440"/>
          </a:xfrm>
          <a:prstGeom prst="roundRect">
            <a:avLst>
              <a:gd name="adj" fmla="val 3846"/>
            </a:avLst>
          </a:prstGeom>
          <a:solidFill>
            <a:srgbClr val="0D1B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251960" y="3703320"/>
            <a:ext cx="3749040" cy="411480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61688" y="3776472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Building Workers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4389120" y="42519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35400"/>
                </a:solidFill>
              </a:rPr>
              <a:t>Coverage: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5349240" y="42519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8C4"/>
                </a:solidFill>
              </a:rPr>
              <a:t>Construction sector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4389120" y="482803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35400"/>
                </a:solidFill>
              </a:rPr>
              <a:t>Contribution: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349240" y="482803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8C4"/>
                </a:solidFill>
              </a:rPr>
              <a:t>1–2% cess on cost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4389120" y="540410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35400"/>
                </a:solidFill>
              </a:rPr>
              <a:t>Threshold:</a:t>
            </a:r>
            <a:endParaRPr lang="en-US" sz="950" dirty="0"/>
          </a:p>
        </p:txBody>
      </p:sp>
      <p:sp>
        <p:nvSpPr>
          <p:cNvPr id="49" name="Text 47"/>
          <p:cNvSpPr/>
          <p:nvPr/>
        </p:nvSpPr>
        <p:spPr>
          <a:xfrm>
            <a:off x="5349240" y="540410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8C4"/>
                </a:solidFill>
              </a:rPr>
              <a:t>₹10 lakh+ construction value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8229600" y="3703320"/>
            <a:ext cx="3749040" cy="2377440"/>
          </a:xfrm>
          <a:prstGeom prst="roundRect">
            <a:avLst>
              <a:gd name="adj" fmla="val 3846"/>
            </a:avLst>
          </a:prstGeom>
          <a:solidFill>
            <a:srgbClr val="0D1B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8229600" y="3703320"/>
            <a:ext cx="3749040" cy="411480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339328" y="3776472"/>
            <a:ext cx="35295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Unorganised / Gig Workers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8366760" y="4251960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085"/>
                </a:solidFill>
              </a:rPr>
              <a:t>Coverage: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9326880" y="425196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8C4"/>
                </a:solidFill>
              </a:rPr>
              <a:t>NEW: Platform &amp; Gig workers</a:t>
            </a:r>
            <a:endParaRPr lang="en-US" sz="950" dirty="0"/>
          </a:p>
        </p:txBody>
      </p:sp>
      <p:sp>
        <p:nvSpPr>
          <p:cNvPr id="55" name="Text 53"/>
          <p:cNvSpPr/>
          <p:nvPr/>
        </p:nvSpPr>
        <p:spPr>
          <a:xfrm>
            <a:off x="8366760" y="4828032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085"/>
                </a:solidFill>
              </a:rPr>
              <a:t>Contribution: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9326880" y="4828032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8C4"/>
                </a:solidFill>
              </a:rPr>
              <a:t>National Social Security Fund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8366760" y="5404104"/>
            <a:ext cx="1005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6A085"/>
                </a:solidFill>
              </a:rPr>
              <a:t>Threshold:</a:t>
            </a:r>
            <a:endParaRPr lang="en-US" sz="950" dirty="0"/>
          </a:p>
        </p:txBody>
      </p:sp>
      <p:sp>
        <p:nvSpPr>
          <p:cNvPr id="58" name="Text 56"/>
          <p:cNvSpPr/>
          <p:nvPr/>
        </p:nvSpPr>
        <p:spPr>
          <a:xfrm>
            <a:off x="9326880" y="5404104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8C4"/>
                </a:solidFill>
              </a:rPr>
              <a:t>First time in India!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8366760" y="5641848"/>
            <a:ext cx="3383280" cy="256032"/>
          </a:xfrm>
          <a:prstGeom prst="roundRect">
            <a:avLst>
              <a:gd name="adj" fmla="val 14286"/>
            </a:avLst>
          </a:prstGeom>
          <a:solidFill>
            <a:srgbClr val="16A085"/>
          </a:solidFill>
          <a:ln/>
        </p:spPr>
      </p:sp>
      <p:sp>
        <p:nvSpPr>
          <p:cNvPr id="60" name="Text 58"/>
          <p:cNvSpPr/>
          <p:nvPr/>
        </p:nvSpPr>
        <p:spPr>
          <a:xfrm>
            <a:off x="8366760" y="5650992"/>
            <a:ext cx="33832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★ Landmark: Gig economy workers covered for first time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</a:rPr>
              <a:t>HR COMPLIANCE FRAMEWORK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8C4"/>
                </a:solidFill>
              </a:rPr>
              <a:t>Applicability Matrix — Which Code Applies to Your Organisation?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3200400" cy="457200"/>
          </a:xfrm>
          <a:prstGeom prst="rect">
            <a:avLst/>
          </a:prstGeom>
          <a:solidFill>
            <a:srgbClr val="0A23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Threshold / Criterion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005840"/>
            <a:ext cx="2011680" cy="457200"/>
          </a:xfrm>
          <a:prstGeom prst="rect">
            <a:avLst/>
          </a:prstGeom>
          <a:solidFill>
            <a:srgbClr val="0D73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097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Wages Code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0" y="1005840"/>
            <a:ext cx="2011680" cy="457200"/>
          </a:xfrm>
          <a:prstGeom prst="rect">
            <a:avLst/>
          </a:prstGeom>
          <a:solidFill>
            <a:srgbClr val="1B4F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0" y="1097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IR Code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498080" y="1005840"/>
            <a:ext cx="2011680" cy="457200"/>
          </a:xfrm>
          <a:prstGeom prst="rect">
            <a:avLst/>
          </a:prstGeom>
          <a:solidFill>
            <a:srgbClr val="C89B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589520" y="1097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SS Code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509760" y="1005840"/>
            <a:ext cx="2011680" cy="457200"/>
          </a:xfrm>
          <a:prstGeom prst="rect">
            <a:avLst/>
          </a:prstGeom>
          <a:solidFill>
            <a:srgbClr val="1B6B4D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0" y="10972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OSH Code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1463040"/>
            <a:ext cx="3200400" cy="566928"/>
          </a:xfrm>
          <a:prstGeom prst="rect">
            <a:avLst/>
          </a:prstGeom>
          <a:solidFill>
            <a:srgbClr val="EB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1572768"/>
            <a:ext cx="3054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Any single employee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474720" y="1463040"/>
            <a:ext cx="2011680" cy="566928"/>
          </a:xfrm>
          <a:prstGeom prst="rect">
            <a:avLst/>
          </a:prstGeom>
          <a:solidFill>
            <a:srgbClr val="F8FB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547872" y="1572768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7377"/>
                </a:solidFill>
              </a:rPr>
              <a:t>✔ Applies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0" y="1463040"/>
            <a:ext cx="2011680" cy="566928"/>
          </a:xfrm>
          <a:prstGeom prst="rect">
            <a:avLst/>
          </a:prstGeom>
          <a:solidFill>
            <a:srgbClr val="F8FB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559552" y="1572768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Partial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498080" y="1463040"/>
            <a:ext cx="2011680" cy="566928"/>
          </a:xfrm>
          <a:prstGeom prst="rect">
            <a:avLst/>
          </a:prstGeom>
          <a:solidFill>
            <a:srgbClr val="F8FB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71232" y="1572768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Partial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9509760" y="1463040"/>
            <a:ext cx="2011680" cy="566928"/>
          </a:xfrm>
          <a:prstGeom prst="rect">
            <a:avLst/>
          </a:prstGeom>
          <a:solidFill>
            <a:srgbClr val="F8FB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582912" y="1572768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Partial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274320" y="2057400"/>
            <a:ext cx="3200400" cy="566928"/>
          </a:xfrm>
          <a:prstGeom prst="rect">
            <a:avLst/>
          </a:prstGeom>
          <a:solidFill>
            <a:srgbClr val="EB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" y="2167128"/>
            <a:ext cx="3054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10+ employees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474720" y="2057400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547872" y="2167128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7377"/>
                </a:solidFill>
              </a:rPr>
              <a:t>✔ Full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0" y="2057400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59552" y="2167128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Partial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498080" y="2057400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71232" y="2167128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ESI/Gratuity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9509760" y="2057400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582912" y="2167128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Partial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274320" y="2651760"/>
            <a:ext cx="3200400" cy="566928"/>
          </a:xfrm>
          <a:prstGeom prst="rect">
            <a:avLst/>
          </a:prstGeom>
          <a:solidFill>
            <a:srgbClr val="EB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47472" y="2761488"/>
            <a:ext cx="3054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20+ employees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474720" y="2651760"/>
            <a:ext cx="2011680" cy="566928"/>
          </a:xfrm>
          <a:prstGeom prst="rect">
            <a:avLst/>
          </a:prstGeom>
          <a:solidFill>
            <a:srgbClr val="F8FB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2761488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7377"/>
                </a:solidFill>
              </a:rPr>
              <a:t>✔ Full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486400" y="2651760"/>
            <a:ext cx="2011680" cy="566928"/>
          </a:xfrm>
          <a:prstGeom prst="rect">
            <a:avLst/>
          </a:prstGeom>
          <a:solidFill>
            <a:srgbClr val="F8FB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59552" y="2761488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Partial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7498080" y="2651760"/>
            <a:ext cx="2011680" cy="566928"/>
          </a:xfrm>
          <a:prstGeom prst="rect">
            <a:avLst/>
          </a:prstGeom>
          <a:solidFill>
            <a:srgbClr val="F8FB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571232" y="2761488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Maternity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9509760" y="2651760"/>
            <a:ext cx="2011680" cy="566928"/>
          </a:xfrm>
          <a:prstGeom prst="rect">
            <a:avLst/>
          </a:prstGeom>
          <a:solidFill>
            <a:srgbClr val="F8FB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582912" y="2761488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Partial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274320" y="3246120"/>
            <a:ext cx="3200400" cy="566928"/>
          </a:xfrm>
          <a:prstGeom prst="rect">
            <a:avLst/>
          </a:prstGeom>
          <a:solidFill>
            <a:srgbClr val="EB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47472" y="3355848"/>
            <a:ext cx="3054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20+ employees (Bonus)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3474720" y="3246120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547872" y="3355848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7377"/>
                </a:solidFill>
              </a:rPr>
              <a:t>✔ Bonus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486400" y="3246120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59552" y="3355848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Partial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498080" y="3246120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71232" y="3355848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7377"/>
                </a:solidFill>
              </a:rPr>
              <a:t>✔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9509760" y="3246120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582912" y="3355848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7377"/>
                </a:solidFill>
              </a:rPr>
              <a:t>✔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74320" y="3840480"/>
            <a:ext cx="3200400" cy="566928"/>
          </a:xfrm>
          <a:prstGeom prst="rect">
            <a:avLst/>
          </a:prstGeom>
          <a:solidFill>
            <a:srgbClr val="EB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47472" y="3950208"/>
            <a:ext cx="3054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300+ workers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3474720" y="3840480"/>
            <a:ext cx="2011680" cy="566928"/>
          </a:xfrm>
          <a:prstGeom prst="rect">
            <a:avLst/>
          </a:prstGeom>
          <a:solidFill>
            <a:srgbClr val="F8FB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547872" y="3950208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7377"/>
                </a:solidFill>
              </a:rPr>
              <a:t>✔ Full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5486400" y="3840480"/>
            <a:ext cx="2011680" cy="566928"/>
          </a:xfrm>
          <a:prstGeom prst="rect">
            <a:avLst/>
          </a:prstGeom>
          <a:solidFill>
            <a:srgbClr val="F8FB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559552" y="3950208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7377"/>
                </a:solidFill>
              </a:rPr>
              <a:t>✔ Full (SO)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7498080" y="3840480"/>
            <a:ext cx="2011680" cy="566928"/>
          </a:xfrm>
          <a:prstGeom prst="rect">
            <a:avLst/>
          </a:prstGeom>
          <a:solidFill>
            <a:srgbClr val="F8FB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571232" y="3950208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7377"/>
                </a:solidFill>
              </a:rPr>
              <a:t>✔ Full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9509760" y="3840480"/>
            <a:ext cx="2011680" cy="566928"/>
          </a:xfrm>
          <a:prstGeom prst="rect">
            <a:avLst/>
          </a:prstGeom>
          <a:solidFill>
            <a:srgbClr val="F8FB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9582912" y="3950208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7377"/>
                </a:solidFill>
              </a:rPr>
              <a:t>✔ Full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274320" y="4434840"/>
            <a:ext cx="3200400" cy="566928"/>
          </a:xfrm>
          <a:prstGeom prst="rect">
            <a:avLst/>
          </a:prstGeom>
          <a:solidFill>
            <a:srgbClr val="EB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47472" y="4544568"/>
            <a:ext cx="3054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300+ workers (Ch.X)</a:t>
            </a:r>
            <a:endParaRPr lang="en-US" sz="950" dirty="0"/>
          </a:p>
        </p:txBody>
      </p:sp>
      <p:sp>
        <p:nvSpPr>
          <p:cNvPr id="67" name="Shape 65"/>
          <p:cNvSpPr/>
          <p:nvPr/>
        </p:nvSpPr>
        <p:spPr>
          <a:xfrm>
            <a:off x="3474720" y="4434840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547872" y="4544568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7377"/>
                </a:solidFill>
              </a:rPr>
              <a:t>✔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5486400" y="4434840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559552" y="4544568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7377"/>
                </a:solidFill>
              </a:rPr>
              <a:t>✔ Prior Approval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7498080" y="4434840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571232" y="4544568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7377"/>
                </a:solidFill>
              </a:rPr>
              <a:t>✔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9509760" y="4434840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582912" y="4544568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7377"/>
                </a:solidFill>
              </a:rPr>
              <a:t>✔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274320" y="5029200"/>
            <a:ext cx="3200400" cy="566928"/>
          </a:xfrm>
          <a:prstGeom prst="rect">
            <a:avLst/>
          </a:prstGeom>
          <a:solidFill>
            <a:srgbClr val="EB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47472" y="5138928"/>
            <a:ext cx="3054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Gig / Platform Workers</a:t>
            </a:r>
            <a:endParaRPr lang="en-US" sz="950" dirty="0"/>
          </a:p>
        </p:txBody>
      </p:sp>
      <p:sp>
        <p:nvSpPr>
          <p:cNvPr id="77" name="Shape 75"/>
          <p:cNvSpPr/>
          <p:nvPr/>
        </p:nvSpPr>
        <p:spPr>
          <a:xfrm>
            <a:off x="3474720" y="5029200"/>
            <a:ext cx="2011680" cy="566928"/>
          </a:xfrm>
          <a:prstGeom prst="rect">
            <a:avLst/>
          </a:prstGeom>
          <a:solidFill>
            <a:srgbClr val="F8FB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547872" y="5138928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35400"/>
                </a:solidFill>
              </a:rPr>
              <a:t>Limited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5486400" y="5029200"/>
            <a:ext cx="2011680" cy="566928"/>
          </a:xfrm>
          <a:prstGeom prst="rect">
            <a:avLst/>
          </a:prstGeom>
          <a:solidFill>
            <a:srgbClr val="F8FB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559552" y="5138928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35400"/>
                </a:solidFill>
              </a:rPr>
              <a:t>Limited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7498080" y="5029200"/>
            <a:ext cx="2011680" cy="566928"/>
          </a:xfrm>
          <a:prstGeom prst="rect">
            <a:avLst/>
          </a:prstGeom>
          <a:solidFill>
            <a:srgbClr val="F8FB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571232" y="5138928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7377"/>
                </a:solidFill>
              </a:rPr>
              <a:t>✔ NEW!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9509760" y="5029200"/>
            <a:ext cx="2011680" cy="566928"/>
          </a:xfrm>
          <a:prstGeom prst="rect">
            <a:avLst/>
          </a:prstGeom>
          <a:solidFill>
            <a:srgbClr val="F8FB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582912" y="5138928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35400"/>
                </a:solidFill>
              </a:rPr>
              <a:t>Limited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274320" y="5623560"/>
            <a:ext cx="3200400" cy="566928"/>
          </a:xfrm>
          <a:prstGeom prst="rect">
            <a:avLst/>
          </a:prstGeom>
          <a:solidFill>
            <a:srgbClr val="EB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47472" y="5733288"/>
            <a:ext cx="30540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Unorganised Workers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3474720" y="5623560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547872" y="5733288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334155"/>
                </a:solidFill>
              </a:rPr>
              <a:t>Min Wages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5486400" y="5623560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559552" y="5733288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D35400"/>
                </a:solidFill>
              </a:rPr>
              <a:t>Limited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7498080" y="5623560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7571232" y="5733288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7377"/>
                </a:solidFill>
              </a:rPr>
              <a:t>✔ New Fund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9509760" y="5623560"/>
            <a:ext cx="201168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9582912" y="5733288"/>
            <a:ext cx="18653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Partial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365760" y="6400800"/>
            <a:ext cx="27432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457200" y="64739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377"/>
                </a:solidFill>
              </a:rPr>
              <a:t>✔ Full</a:t>
            </a:r>
            <a:endParaRPr lang="en-US" sz="900" dirty="0"/>
          </a:p>
        </p:txBody>
      </p:sp>
      <p:sp>
        <p:nvSpPr>
          <p:cNvPr id="97" name="Text 95"/>
          <p:cNvSpPr/>
          <p:nvPr/>
        </p:nvSpPr>
        <p:spPr>
          <a:xfrm>
            <a:off x="1463040" y="647395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Fully applicable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3291840" y="6400800"/>
            <a:ext cx="27432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3383280" y="64739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89B3C"/>
                </a:solidFill>
              </a:rPr>
              <a:t>✔ NEW!</a:t>
            </a:r>
            <a:endParaRPr lang="en-US" sz="900" dirty="0"/>
          </a:p>
        </p:txBody>
      </p:sp>
      <p:sp>
        <p:nvSpPr>
          <p:cNvPr id="100" name="Text 98"/>
          <p:cNvSpPr/>
          <p:nvPr/>
        </p:nvSpPr>
        <p:spPr>
          <a:xfrm>
            <a:off x="4389120" y="647395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New provision</a:t>
            </a:r>
            <a:endParaRPr lang="en-US" sz="900" dirty="0"/>
          </a:p>
        </p:txBody>
      </p:sp>
      <p:sp>
        <p:nvSpPr>
          <p:cNvPr id="101" name="Shape 99"/>
          <p:cNvSpPr/>
          <p:nvPr/>
        </p:nvSpPr>
        <p:spPr>
          <a:xfrm>
            <a:off x="6217920" y="6400800"/>
            <a:ext cx="27432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309360" y="64739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Partial</a:t>
            </a:r>
            <a:endParaRPr lang="en-US" sz="900" dirty="0"/>
          </a:p>
        </p:txBody>
      </p:sp>
      <p:sp>
        <p:nvSpPr>
          <p:cNvPr id="103" name="Text 101"/>
          <p:cNvSpPr/>
          <p:nvPr/>
        </p:nvSpPr>
        <p:spPr>
          <a:xfrm>
            <a:off x="7315200" y="647395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Partially applicable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9144000" y="6400800"/>
            <a:ext cx="2743200" cy="3474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9235440" y="6473952"/>
            <a:ext cx="1097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35400"/>
                </a:solidFill>
              </a:rPr>
              <a:t>Limited</a:t>
            </a:r>
            <a:endParaRPr lang="en-US" sz="900" dirty="0"/>
          </a:p>
        </p:txBody>
      </p:sp>
      <p:sp>
        <p:nvSpPr>
          <p:cNvPr id="106" name="Text 104"/>
          <p:cNvSpPr/>
          <p:nvPr/>
        </p:nvSpPr>
        <p:spPr>
          <a:xfrm>
            <a:off x="10241280" y="6473952"/>
            <a:ext cx="1508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Limited coverage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55448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</a:rPr>
              <a:t>RISK HEAT MAP &amp; PENALTY REGISTER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5D0"/>
                </a:solidFill>
              </a:rPr>
              <a:t>Non-Compliance Risks and Financial Exposure Under the Labour Codes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9601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8BA8C4"/>
                </a:solidFill>
              </a:rPr>
              <a:t>LIKELIHOOD →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 rot="16200000">
            <a:off x="411480" y="1371600"/>
            <a:ext cx="457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8BA8C4"/>
                </a:solidFill>
              </a:rPr>
              <a:t>↑ IMPACT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914400" y="1051560"/>
            <a:ext cx="786384" cy="786384"/>
          </a:xfrm>
          <a:prstGeom prst="rect">
            <a:avLst/>
          </a:prstGeom>
          <a:solidFill>
            <a:srgbClr val="7B6200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32588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737360" y="1051560"/>
            <a:ext cx="786384" cy="786384"/>
          </a:xfrm>
          <a:prstGeom prst="rect">
            <a:avLst/>
          </a:prstGeom>
          <a:solidFill>
            <a:srgbClr val="B35900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737360" y="132588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560320" y="1051560"/>
            <a:ext cx="786384" cy="786384"/>
          </a:xfrm>
          <a:prstGeom prst="rect">
            <a:avLst/>
          </a:prstGeom>
          <a:solidFill>
            <a:srgbClr val="B35900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132588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15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786384" cy="786384"/>
          </a:xfrm>
          <a:prstGeom prst="rect">
            <a:avLst/>
          </a:prstGeom>
          <a:solidFill>
            <a:srgbClr val="8B1A1A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83280" y="132588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206240" y="1051560"/>
            <a:ext cx="786384" cy="786384"/>
          </a:xfrm>
          <a:prstGeom prst="rect">
            <a:avLst/>
          </a:prstGeom>
          <a:solidFill>
            <a:srgbClr val="8B1A1A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06240" y="132588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25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4400" y="1874520"/>
            <a:ext cx="786384" cy="786384"/>
          </a:xfrm>
          <a:prstGeom prst="rect">
            <a:avLst/>
          </a:prstGeom>
          <a:solidFill>
            <a:srgbClr val="7B6200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1488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737360" y="1874520"/>
            <a:ext cx="786384" cy="786384"/>
          </a:xfrm>
          <a:prstGeom prst="rect">
            <a:avLst/>
          </a:prstGeom>
          <a:solidFill>
            <a:srgbClr val="7B6200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737360" y="21488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560320" y="1874520"/>
            <a:ext cx="786384" cy="786384"/>
          </a:xfrm>
          <a:prstGeom prst="rect">
            <a:avLst/>
          </a:prstGeom>
          <a:solidFill>
            <a:srgbClr val="B35900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560320" y="21488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12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383280" y="1874520"/>
            <a:ext cx="786384" cy="786384"/>
          </a:xfrm>
          <a:prstGeom prst="rect">
            <a:avLst/>
          </a:prstGeom>
          <a:solidFill>
            <a:srgbClr val="8B1A1A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383280" y="21488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16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206240" y="1874520"/>
            <a:ext cx="786384" cy="786384"/>
          </a:xfrm>
          <a:prstGeom prst="rect">
            <a:avLst/>
          </a:prstGeom>
          <a:solidFill>
            <a:srgbClr val="8B1A1A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206240" y="214884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20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914400" y="2697480"/>
            <a:ext cx="786384" cy="786384"/>
          </a:xfrm>
          <a:prstGeom prst="rect">
            <a:avLst/>
          </a:prstGeom>
          <a:solidFill>
            <a:srgbClr val="1A5C3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14400" y="297180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1737360" y="2697480"/>
            <a:ext cx="786384" cy="786384"/>
          </a:xfrm>
          <a:prstGeom prst="rect">
            <a:avLst/>
          </a:prstGeom>
          <a:solidFill>
            <a:srgbClr val="7B6200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737360" y="297180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560320" y="2697480"/>
            <a:ext cx="786384" cy="786384"/>
          </a:xfrm>
          <a:prstGeom prst="rect">
            <a:avLst/>
          </a:prstGeom>
          <a:solidFill>
            <a:srgbClr val="B35900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560320" y="297180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9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383280" y="2697480"/>
            <a:ext cx="786384" cy="786384"/>
          </a:xfrm>
          <a:prstGeom prst="rect">
            <a:avLst/>
          </a:prstGeom>
          <a:solidFill>
            <a:srgbClr val="B35900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83280" y="297180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12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4206240" y="2697480"/>
            <a:ext cx="786384" cy="786384"/>
          </a:xfrm>
          <a:prstGeom prst="rect">
            <a:avLst/>
          </a:prstGeom>
          <a:solidFill>
            <a:srgbClr val="B35900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206240" y="297180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15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14400" y="3520440"/>
            <a:ext cx="786384" cy="786384"/>
          </a:xfrm>
          <a:prstGeom prst="rect">
            <a:avLst/>
          </a:prstGeom>
          <a:solidFill>
            <a:srgbClr val="1A5C3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4400" y="379476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1737360" y="3520440"/>
            <a:ext cx="786384" cy="786384"/>
          </a:xfrm>
          <a:prstGeom prst="rect">
            <a:avLst/>
          </a:prstGeom>
          <a:solidFill>
            <a:srgbClr val="7B6200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737360" y="379476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2560320" y="3520440"/>
            <a:ext cx="786384" cy="786384"/>
          </a:xfrm>
          <a:prstGeom prst="rect">
            <a:avLst/>
          </a:prstGeom>
          <a:solidFill>
            <a:srgbClr val="7B6200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560320" y="379476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3383280" y="3520440"/>
            <a:ext cx="786384" cy="786384"/>
          </a:xfrm>
          <a:prstGeom prst="rect">
            <a:avLst/>
          </a:prstGeom>
          <a:solidFill>
            <a:srgbClr val="7B6200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383280" y="379476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206240" y="3520440"/>
            <a:ext cx="786384" cy="786384"/>
          </a:xfrm>
          <a:prstGeom prst="rect">
            <a:avLst/>
          </a:prstGeom>
          <a:solidFill>
            <a:srgbClr val="B35900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206240" y="379476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10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914400" y="4343400"/>
            <a:ext cx="786384" cy="786384"/>
          </a:xfrm>
          <a:prstGeom prst="rect">
            <a:avLst/>
          </a:prstGeom>
          <a:solidFill>
            <a:srgbClr val="1A5C3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4400" y="461772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737360" y="4343400"/>
            <a:ext cx="786384" cy="786384"/>
          </a:xfrm>
          <a:prstGeom prst="rect">
            <a:avLst/>
          </a:prstGeom>
          <a:solidFill>
            <a:srgbClr val="1A5C3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737360" y="461772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2560320" y="4343400"/>
            <a:ext cx="786384" cy="786384"/>
          </a:xfrm>
          <a:prstGeom prst="rect">
            <a:avLst/>
          </a:prstGeom>
          <a:solidFill>
            <a:srgbClr val="1A5C38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560320" y="461772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383280" y="4343400"/>
            <a:ext cx="786384" cy="786384"/>
          </a:xfrm>
          <a:prstGeom prst="rect">
            <a:avLst/>
          </a:prstGeom>
          <a:solidFill>
            <a:srgbClr val="7B6200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3383280" y="461772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206240" y="4343400"/>
            <a:ext cx="786384" cy="786384"/>
          </a:xfrm>
          <a:prstGeom prst="rect">
            <a:avLst/>
          </a:prstGeom>
          <a:solidFill>
            <a:srgbClr val="7B6200"/>
          </a:solidFill>
          <a:ln w="12700">
            <a:solidFill>
              <a:srgbClr val="0A1628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206240" y="4617720"/>
            <a:ext cx="7863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914400" y="55778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8C4"/>
                </a:solidFill>
              </a:rPr>
              <a:t>1</a:t>
            </a:r>
            <a:endParaRPr lang="en-US" sz="900" dirty="0"/>
          </a:p>
        </p:txBody>
      </p:sp>
      <p:sp>
        <p:nvSpPr>
          <p:cNvPr id="58" name="Text 56"/>
          <p:cNvSpPr/>
          <p:nvPr/>
        </p:nvSpPr>
        <p:spPr>
          <a:xfrm>
            <a:off x="594360" y="46177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8C4"/>
                </a:solidFill>
              </a:rPr>
              <a:t>1</a:t>
            </a:r>
            <a:endParaRPr lang="en-US" sz="900" dirty="0"/>
          </a:p>
        </p:txBody>
      </p:sp>
      <p:sp>
        <p:nvSpPr>
          <p:cNvPr id="59" name="Text 57"/>
          <p:cNvSpPr/>
          <p:nvPr/>
        </p:nvSpPr>
        <p:spPr>
          <a:xfrm>
            <a:off x="1737360" y="55778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8C4"/>
                </a:solidFill>
              </a:rPr>
              <a:t>2</a:t>
            </a:r>
            <a:endParaRPr lang="en-US" sz="900" dirty="0"/>
          </a:p>
        </p:txBody>
      </p:sp>
      <p:sp>
        <p:nvSpPr>
          <p:cNvPr id="60" name="Text 58"/>
          <p:cNvSpPr/>
          <p:nvPr/>
        </p:nvSpPr>
        <p:spPr>
          <a:xfrm>
            <a:off x="594360" y="37947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8C4"/>
                </a:solidFill>
              </a:rPr>
              <a:t>2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2560320" y="55778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8C4"/>
                </a:solidFill>
              </a:rPr>
              <a:t>3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94360" y="29718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8C4"/>
                </a:solidFill>
              </a:rPr>
              <a:t>3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3383280" y="55778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8C4"/>
                </a:solidFill>
              </a:rPr>
              <a:t>4</a:t>
            </a:r>
            <a:endParaRPr lang="en-US" sz="900" dirty="0"/>
          </a:p>
        </p:txBody>
      </p:sp>
      <p:sp>
        <p:nvSpPr>
          <p:cNvPr id="64" name="Text 62"/>
          <p:cNvSpPr/>
          <p:nvPr/>
        </p:nvSpPr>
        <p:spPr>
          <a:xfrm>
            <a:off x="594360" y="2148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8C4"/>
                </a:solidFill>
              </a:rPr>
              <a:t>4</a:t>
            </a:r>
            <a:endParaRPr lang="en-US" sz="900" dirty="0"/>
          </a:p>
        </p:txBody>
      </p:sp>
      <p:sp>
        <p:nvSpPr>
          <p:cNvPr id="65" name="Text 63"/>
          <p:cNvSpPr/>
          <p:nvPr/>
        </p:nvSpPr>
        <p:spPr>
          <a:xfrm>
            <a:off x="4206240" y="5577840"/>
            <a:ext cx="822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8C4"/>
                </a:solidFill>
              </a:rPr>
              <a:t>5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594360" y="13258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A8C4"/>
                </a:solidFill>
              </a:rPr>
              <a:t>5</a:t>
            </a:r>
            <a:endParaRPr lang="en-US" sz="900" dirty="0"/>
          </a:p>
        </p:txBody>
      </p:sp>
      <p:sp>
        <p:nvSpPr>
          <p:cNvPr id="67" name="Text 65"/>
          <p:cNvSpPr/>
          <p:nvPr/>
        </p:nvSpPr>
        <p:spPr>
          <a:xfrm>
            <a:off x="5303520" y="1024128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</a:rPr>
              <a:t>PENALTY REGISTER</a:t>
            </a:r>
            <a:endParaRPr lang="en-US" sz="1300" dirty="0"/>
          </a:p>
        </p:txBody>
      </p:sp>
      <p:sp>
        <p:nvSpPr>
          <p:cNvPr id="68" name="Shape 66"/>
          <p:cNvSpPr/>
          <p:nvPr/>
        </p:nvSpPr>
        <p:spPr>
          <a:xfrm>
            <a:off x="5303520" y="1417320"/>
            <a:ext cx="6583680" cy="594360"/>
          </a:xfrm>
          <a:prstGeom prst="rect">
            <a:avLst/>
          </a:prstGeom>
          <a:solidFill>
            <a:srgbClr val="0D1B2E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349240" y="1508760"/>
            <a:ext cx="914400" cy="320040"/>
          </a:xfrm>
          <a:prstGeom prst="roundRect">
            <a:avLst>
              <a:gd name="adj" fmla="val 11429"/>
            </a:avLst>
          </a:prstGeom>
          <a:solidFill>
            <a:srgbClr val="C0392B"/>
          </a:solidFill>
          <a:ln/>
        </p:spPr>
      </p:sp>
      <p:sp>
        <p:nvSpPr>
          <p:cNvPr id="70" name="Text 68"/>
          <p:cNvSpPr/>
          <p:nvPr/>
        </p:nvSpPr>
        <p:spPr>
          <a:xfrm>
            <a:off x="5349240" y="15270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CRITICAL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6355080" y="14630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Non-payment of PF/ESI contributions</a:t>
            </a:r>
            <a:endParaRPr lang="en-US" sz="900" dirty="0"/>
          </a:p>
        </p:txBody>
      </p:sp>
      <p:sp>
        <p:nvSpPr>
          <p:cNvPr id="72" name="Text 70"/>
          <p:cNvSpPr/>
          <p:nvPr/>
        </p:nvSpPr>
        <p:spPr>
          <a:xfrm>
            <a:off x="6355080" y="170992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8C4"/>
                </a:solidFill>
              </a:rPr>
              <a:t>Up to ₹50,000 + imprisonment 6 months–5 yrs</a:t>
            </a:r>
            <a:endParaRPr lang="en-US" sz="800" dirty="0"/>
          </a:p>
        </p:txBody>
      </p:sp>
      <p:sp>
        <p:nvSpPr>
          <p:cNvPr id="73" name="Text 71"/>
          <p:cNvSpPr/>
          <p:nvPr/>
        </p:nvSpPr>
        <p:spPr>
          <a:xfrm>
            <a:off x="9692640" y="155448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377"/>
                </a:solidFill>
              </a:rPr>
              <a:t>SS Code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5303520" y="2075688"/>
            <a:ext cx="6583680" cy="594360"/>
          </a:xfrm>
          <a:prstGeom prst="rect">
            <a:avLst/>
          </a:prstGeom>
          <a:solidFill>
            <a:srgbClr val="162135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5349240" y="2167128"/>
            <a:ext cx="914400" cy="320040"/>
          </a:xfrm>
          <a:prstGeom prst="roundRect">
            <a:avLst>
              <a:gd name="adj" fmla="val 11429"/>
            </a:avLst>
          </a:prstGeom>
          <a:solidFill>
            <a:srgbClr val="C0392B"/>
          </a:solidFill>
          <a:ln/>
        </p:spPr>
      </p:sp>
      <p:sp>
        <p:nvSpPr>
          <p:cNvPr id="76" name="Text 74"/>
          <p:cNvSpPr/>
          <p:nvPr/>
        </p:nvSpPr>
        <p:spPr>
          <a:xfrm>
            <a:off x="5349240" y="218541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CRITICAL</a:t>
            </a:r>
            <a:endParaRPr lang="en-US" sz="800" dirty="0"/>
          </a:p>
        </p:txBody>
      </p:sp>
      <p:sp>
        <p:nvSpPr>
          <p:cNvPr id="77" name="Text 75"/>
          <p:cNvSpPr/>
          <p:nvPr/>
        </p:nvSpPr>
        <p:spPr>
          <a:xfrm>
            <a:off x="6355080" y="21214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Wages below minimum wage</a:t>
            </a:r>
            <a:endParaRPr lang="en-US" sz="900" dirty="0"/>
          </a:p>
        </p:txBody>
      </p:sp>
      <p:sp>
        <p:nvSpPr>
          <p:cNvPr id="78" name="Text 76"/>
          <p:cNvSpPr/>
          <p:nvPr/>
        </p:nvSpPr>
        <p:spPr>
          <a:xfrm>
            <a:off x="6355080" y="236829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8C4"/>
                </a:solidFill>
              </a:rPr>
              <a:t>Up to ₹50,000 (1st), ₹1L + 3 months jail (2nd)</a:t>
            </a:r>
            <a:endParaRPr lang="en-US" sz="800" dirty="0"/>
          </a:p>
        </p:txBody>
      </p:sp>
      <p:sp>
        <p:nvSpPr>
          <p:cNvPr id="79" name="Text 77"/>
          <p:cNvSpPr/>
          <p:nvPr/>
        </p:nvSpPr>
        <p:spPr>
          <a:xfrm>
            <a:off x="9692640" y="221284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377"/>
                </a:solidFill>
              </a:rPr>
              <a:t>Wages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5303520" y="2734056"/>
            <a:ext cx="6583680" cy="594360"/>
          </a:xfrm>
          <a:prstGeom prst="rect">
            <a:avLst/>
          </a:prstGeom>
          <a:solidFill>
            <a:srgbClr val="0D1B2E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5349240" y="2825496"/>
            <a:ext cx="914400" cy="320040"/>
          </a:xfrm>
          <a:prstGeom prst="roundRect">
            <a:avLst>
              <a:gd name="adj" fmla="val 11429"/>
            </a:avLst>
          </a:prstGeom>
          <a:solidFill>
            <a:srgbClr val="C0392B"/>
          </a:solidFill>
          <a:ln/>
        </p:spPr>
      </p:sp>
      <p:sp>
        <p:nvSpPr>
          <p:cNvPr id="82" name="Text 80"/>
          <p:cNvSpPr/>
          <p:nvPr/>
        </p:nvSpPr>
        <p:spPr>
          <a:xfrm>
            <a:off x="5349240" y="284378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CRITICAL</a:t>
            </a:r>
            <a:endParaRPr lang="en-US" sz="800" dirty="0"/>
          </a:p>
        </p:txBody>
      </p:sp>
      <p:sp>
        <p:nvSpPr>
          <p:cNvPr id="83" name="Text 81"/>
          <p:cNvSpPr/>
          <p:nvPr/>
        </p:nvSpPr>
        <p:spPr>
          <a:xfrm>
            <a:off x="6355080" y="277977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Illegal strike participation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6355080" y="302666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8C4"/>
                </a:solidFill>
              </a:rPr>
              <a:t>₹1,000–₹10,000 + 1 month jail</a:t>
            </a:r>
            <a:endParaRPr lang="en-US" sz="800" dirty="0"/>
          </a:p>
        </p:txBody>
      </p:sp>
      <p:sp>
        <p:nvSpPr>
          <p:cNvPr id="85" name="Text 83"/>
          <p:cNvSpPr/>
          <p:nvPr/>
        </p:nvSpPr>
        <p:spPr>
          <a:xfrm>
            <a:off x="9692640" y="287121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377"/>
                </a:solidFill>
              </a:rPr>
              <a:t>IR Code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5303520" y="3392424"/>
            <a:ext cx="6583680" cy="594360"/>
          </a:xfrm>
          <a:prstGeom prst="rect">
            <a:avLst/>
          </a:prstGeom>
          <a:solidFill>
            <a:srgbClr val="162135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5349240" y="3483864"/>
            <a:ext cx="914400" cy="320040"/>
          </a:xfrm>
          <a:prstGeom prst="roundRect">
            <a:avLst>
              <a:gd name="adj" fmla="val 11429"/>
            </a:avLst>
          </a:prstGeom>
          <a:solidFill>
            <a:srgbClr val="D35400"/>
          </a:solidFill>
          <a:ln/>
        </p:spPr>
      </p:sp>
      <p:sp>
        <p:nvSpPr>
          <p:cNvPr id="88" name="Text 86"/>
          <p:cNvSpPr/>
          <p:nvPr/>
        </p:nvSpPr>
        <p:spPr>
          <a:xfrm>
            <a:off x="5349240" y="3502152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89" name="Text 87"/>
          <p:cNvSpPr/>
          <p:nvPr/>
        </p:nvSpPr>
        <p:spPr>
          <a:xfrm>
            <a:off x="6355080" y="343814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Unlawful retrenchment (Ch.X)</a:t>
            </a:r>
            <a:endParaRPr lang="en-US" sz="900" dirty="0"/>
          </a:p>
        </p:txBody>
      </p:sp>
      <p:sp>
        <p:nvSpPr>
          <p:cNvPr id="90" name="Text 88"/>
          <p:cNvSpPr/>
          <p:nvPr/>
        </p:nvSpPr>
        <p:spPr>
          <a:xfrm>
            <a:off x="6355080" y="36850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8C4"/>
                </a:solidFill>
              </a:rPr>
              <a:t>₹1L–₹10L fine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9692640" y="352958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377"/>
                </a:solidFill>
              </a:rPr>
              <a:t>IR Code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5303520" y="4050792"/>
            <a:ext cx="6583680" cy="594360"/>
          </a:xfrm>
          <a:prstGeom prst="rect">
            <a:avLst/>
          </a:prstGeom>
          <a:solidFill>
            <a:srgbClr val="0D1B2E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5349240" y="4142232"/>
            <a:ext cx="914400" cy="320040"/>
          </a:xfrm>
          <a:prstGeom prst="roundRect">
            <a:avLst>
              <a:gd name="adj" fmla="val 11429"/>
            </a:avLst>
          </a:prstGeom>
          <a:solidFill>
            <a:srgbClr val="D35400"/>
          </a:solidFill>
          <a:ln/>
        </p:spPr>
      </p:sp>
      <p:sp>
        <p:nvSpPr>
          <p:cNvPr id="94" name="Text 92"/>
          <p:cNvSpPr/>
          <p:nvPr/>
        </p:nvSpPr>
        <p:spPr>
          <a:xfrm>
            <a:off x="5349240" y="41605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HIGH</a:t>
            </a:r>
            <a:endParaRPr lang="en-US" sz="800" dirty="0"/>
          </a:p>
        </p:txBody>
      </p:sp>
      <p:sp>
        <p:nvSpPr>
          <p:cNvPr id="95" name="Text 93"/>
          <p:cNvSpPr/>
          <p:nvPr/>
        </p:nvSpPr>
        <p:spPr>
          <a:xfrm>
            <a:off x="6355080" y="409651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Bonus non-payment</a:t>
            </a:r>
            <a:endParaRPr lang="en-US" sz="900" dirty="0"/>
          </a:p>
        </p:txBody>
      </p:sp>
      <p:sp>
        <p:nvSpPr>
          <p:cNvPr id="96" name="Text 94"/>
          <p:cNvSpPr/>
          <p:nvPr/>
        </p:nvSpPr>
        <p:spPr>
          <a:xfrm>
            <a:off x="6355080" y="434340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8C4"/>
                </a:solidFill>
              </a:rPr>
              <a:t>Up to ₹1L + 6 months jail</a:t>
            </a:r>
            <a:endParaRPr lang="en-US" sz="800" dirty="0"/>
          </a:p>
        </p:txBody>
      </p:sp>
      <p:sp>
        <p:nvSpPr>
          <p:cNvPr id="97" name="Text 95"/>
          <p:cNvSpPr/>
          <p:nvPr/>
        </p:nvSpPr>
        <p:spPr>
          <a:xfrm>
            <a:off x="9692640" y="4187952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377"/>
                </a:solidFill>
              </a:rPr>
              <a:t>Wages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5303520" y="4709160"/>
            <a:ext cx="6583680" cy="594360"/>
          </a:xfrm>
          <a:prstGeom prst="rect">
            <a:avLst/>
          </a:prstGeom>
          <a:solidFill>
            <a:srgbClr val="162135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5349240" y="4800600"/>
            <a:ext cx="914400" cy="320040"/>
          </a:xfrm>
          <a:prstGeom prst="roundRect">
            <a:avLst>
              <a:gd name="adj" fmla="val 11429"/>
            </a:avLst>
          </a:prstGeom>
          <a:solidFill>
            <a:srgbClr val="C89B3C"/>
          </a:solidFill>
          <a:ln/>
        </p:spPr>
      </p:sp>
      <p:sp>
        <p:nvSpPr>
          <p:cNvPr id="100" name="Text 98"/>
          <p:cNvSpPr/>
          <p:nvPr/>
        </p:nvSpPr>
        <p:spPr>
          <a:xfrm>
            <a:off x="5349240" y="481888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MEDIUM</a:t>
            </a:r>
            <a:endParaRPr lang="en-US" sz="800" dirty="0"/>
          </a:p>
        </p:txBody>
      </p:sp>
      <p:sp>
        <p:nvSpPr>
          <p:cNvPr id="101" name="Text 99"/>
          <p:cNvSpPr/>
          <p:nvPr/>
        </p:nvSpPr>
        <p:spPr>
          <a:xfrm>
            <a:off x="6355080" y="4754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Standing order violation</a:t>
            </a:r>
            <a:endParaRPr lang="en-US" sz="900" dirty="0"/>
          </a:p>
        </p:txBody>
      </p:sp>
      <p:sp>
        <p:nvSpPr>
          <p:cNvPr id="102" name="Text 100"/>
          <p:cNvSpPr/>
          <p:nvPr/>
        </p:nvSpPr>
        <p:spPr>
          <a:xfrm>
            <a:off x="6355080" y="5001768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8C4"/>
                </a:solidFill>
              </a:rPr>
              <a:t>₹1L–₹2L fine</a:t>
            </a:r>
            <a:endParaRPr lang="en-US" sz="800" dirty="0"/>
          </a:p>
        </p:txBody>
      </p:sp>
      <p:sp>
        <p:nvSpPr>
          <p:cNvPr id="103" name="Text 101"/>
          <p:cNvSpPr/>
          <p:nvPr/>
        </p:nvSpPr>
        <p:spPr>
          <a:xfrm>
            <a:off x="9692640" y="484632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377"/>
                </a:solidFill>
              </a:rPr>
              <a:t>IR Code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5303520" y="5367528"/>
            <a:ext cx="6583680" cy="594360"/>
          </a:xfrm>
          <a:prstGeom prst="rect">
            <a:avLst/>
          </a:prstGeom>
          <a:solidFill>
            <a:srgbClr val="0D1B2E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349240" y="5458968"/>
            <a:ext cx="914400" cy="320040"/>
          </a:xfrm>
          <a:prstGeom prst="roundRect">
            <a:avLst>
              <a:gd name="adj" fmla="val 11429"/>
            </a:avLst>
          </a:prstGeom>
          <a:solidFill>
            <a:srgbClr val="C89B3C"/>
          </a:solidFill>
          <a:ln/>
        </p:spPr>
      </p:sp>
      <p:sp>
        <p:nvSpPr>
          <p:cNvPr id="106" name="Text 104"/>
          <p:cNvSpPr/>
          <p:nvPr/>
        </p:nvSpPr>
        <p:spPr>
          <a:xfrm>
            <a:off x="5349240" y="5477256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MEDIUM</a:t>
            </a:r>
            <a:endParaRPr lang="en-US" sz="800" dirty="0"/>
          </a:p>
        </p:txBody>
      </p:sp>
      <p:sp>
        <p:nvSpPr>
          <p:cNvPr id="107" name="Text 105"/>
          <p:cNvSpPr/>
          <p:nvPr/>
        </p:nvSpPr>
        <p:spPr>
          <a:xfrm>
            <a:off x="6355080" y="54132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GRC not constituted</a:t>
            </a:r>
            <a:endParaRPr lang="en-US" sz="900" dirty="0"/>
          </a:p>
        </p:txBody>
      </p:sp>
      <p:sp>
        <p:nvSpPr>
          <p:cNvPr id="108" name="Text 106"/>
          <p:cNvSpPr/>
          <p:nvPr/>
        </p:nvSpPr>
        <p:spPr>
          <a:xfrm>
            <a:off x="6355080" y="5660136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8C4"/>
                </a:solidFill>
              </a:rPr>
              <a:t>Up to ₹1L fine</a:t>
            </a:r>
            <a:endParaRPr lang="en-US" sz="800" dirty="0"/>
          </a:p>
        </p:txBody>
      </p:sp>
      <p:sp>
        <p:nvSpPr>
          <p:cNvPr id="109" name="Text 107"/>
          <p:cNvSpPr/>
          <p:nvPr/>
        </p:nvSpPr>
        <p:spPr>
          <a:xfrm>
            <a:off x="9692640" y="5504688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377"/>
                </a:solidFill>
              </a:rPr>
              <a:t>IR Code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5303520" y="6025896"/>
            <a:ext cx="6583680" cy="594360"/>
          </a:xfrm>
          <a:prstGeom prst="rect">
            <a:avLst/>
          </a:prstGeom>
          <a:solidFill>
            <a:srgbClr val="162135"/>
          </a:solidFill>
          <a:ln w="12700">
            <a:solidFill>
              <a:srgbClr val="1E3050"/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5349240" y="6117336"/>
            <a:ext cx="914400" cy="320040"/>
          </a:xfrm>
          <a:prstGeom prst="roundRect">
            <a:avLst>
              <a:gd name="adj" fmla="val 11429"/>
            </a:avLst>
          </a:prstGeom>
          <a:solidFill>
            <a:srgbClr val="16A085"/>
          </a:solidFill>
          <a:ln/>
        </p:spPr>
      </p:sp>
      <p:sp>
        <p:nvSpPr>
          <p:cNvPr id="112" name="Text 110"/>
          <p:cNvSpPr/>
          <p:nvPr/>
        </p:nvSpPr>
        <p:spPr>
          <a:xfrm>
            <a:off x="5349240" y="6135624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LOW</a:t>
            </a:r>
            <a:endParaRPr lang="en-US" sz="800" dirty="0"/>
          </a:p>
        </p:txBody>
      </p:sp>
      <p:sp>
        <p:nvSpPr>
          <p:cNvPr id="113" name="Text 111"/>
          <p:cNvSpPr/>
          <p:nvPr/>
        </p:nvSpPr>
        <p:spPr>
          <a:xfrm>
            <a:off x="6355080" y="607161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Failure to maintain registers</a:t>
            </a:r>
            <a:endParaRPr lang="en-US" sz="900" dirty="0"/>
          </a:p>
        </p:txBody>
      </p:sp>
      <p:sp>
        <p:nvSpPr>
          <p:cNvPr id="114" name="Text 112"/>
          <p:cNvSpPr/>
          <p:nvPr/>
        </p:nvSpPr>
        <p:spPr>
          <a:xfrm>
            <a:off x="6355080" y="6318504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A8C4"/>
                </a:solidFill>
              </a:rPr>
              <a:t>Up to ₹10,000 fine</a:t>
            </a:r>
            <a:endParaRPr lang="en-US" sz="800" dirty="0"/>
          </a:p>
        </p:txBody>
      </p:sp>
      <p:sp>
        <p:nvSpPr>
          <p:cNvPr id="115" name="Text 113"/>
          <p:cNvSpPr/>
          <p:nvPr/>
        </p:nvSpPr>
        <p:spPr>
          <a:xfrm>
            <a:off x="9692640" y="6163056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7377"/>
                </a:solidFill>
              </a:rPr>
              <a:t>Wages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spc="400" kern="0" dirty="0">
                <a:solidFill>
                  <a:srgbClr val="FFFFFF"/>
                </a:solidFill>
              </a:rPr>
              <a:t>HR COMPLIANCE DASHBOARD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9601200" y="20116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spc="300" kern="0" dirty="0">
                <a:solidFill>
                  <a:srgbClr val="0D7377"/>
                </a:solidFill>
              </a:rPr>
              <a:t>LIVE METRICS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9601200" y="393192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4CAF50"/>
                </a:solidFill>
              </a:rPr>
              <a:t>● Updated: Q2 2024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228600" y="777240"/>
            <a:ext cx="2240280" cy="13716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28600" y="777240"/>
            <a:ext cx="224028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8600" y="868680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7377"/>
                </a:solidFill>
              </a:rPr>
              <a:t>87%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320040" y="148132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Overall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Compliance Score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228600" y="182880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AF50"/>
                </a:solidFill>
              </a:rPr>
              <a:t>↑ +12% YoY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606040" y="777240"/>
            <a:ext cx="2240280" cy="13716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606040" y="777240"/>
            <a:ext cx="2240280" cy="54864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06040" y="868680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35400"/>
                </a:solidFill>
              </a:rPr>
              <a:t>23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2697480" y="148132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Pending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Compliance Actions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06040" y="182880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AF50"/>
                </a:solidFill>
              </a:rPr>
              <a:t>↑ -8 from Q1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983480" y="777240"/>
            <a:ext cx="2240280" cy="13716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983480" y="777240"/>
            <a:ext cx="2240280" cy="54864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868680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0392B"/>
                </a:solidFill>
              </a:rPr>
              <a:t>₹14.2Cr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074920" y="148132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Potential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Penalty Exposure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983480" y="182880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392B"/>
                </a:solidFill>
              </a:rPr>
              <a:t>↓ REDUCE URGENTLY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360920" y="777240"/>
            <a:ext cx="2240280" cy="13716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60920" y="777240"/>
            <a:ext cx="2240280" cy="5486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60920" y="868680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D7377"/>
                </a:solidFill>
              </a:rPr>
              <a:t>94%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7452360" y="148132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PF/ESI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Compliance Rate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360920" y="182880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CAF50"/>
                </a:solidFill>
              </a:rPr>
              <a:t>↑ +5% QoQ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9738360" y="777240"/>
            <a:ext cx="2240280" cy="1371600"/>
          </a:xfrm>
          <a:prstGeom prst="roundRect">
            <a:avLst>
              <a:gd name="adj" fmla="val 533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9738360" y="777240"/>
            <a:ext cx="2240280" cy="54864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738360" y="868680"/>
            <a:ext cx="2240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89B3C"/>
                </a:solidFill>
              </a:rPr>
              <a:t>78%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9829800" y="1481328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Wage Register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Accuracy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738360" y="1828800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0392B"/>
                </a:solidFill>
              </a:rPr>
              <a:t>↓ TARGET: 95%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74320" y="230428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COMPLIANCE BY CODE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74320" y="269748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Wages Code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1920240" y="2743200"/>
            <a:ext cx="3840480" cy="2743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/>
        </p:spPr>
      </p:sp>
      <p:sp>
        <p:nvSpPr>
          <p:cNvPr id="34" name="Shape 32"/>
          <p:cNvSpPr/>
          <p:nvPr/>
        </p:nvSpPr>
        <p:spPr>
          <a:xfrm>
            <a:off x="1920240" y="2743200"/>
            <a:ext cx="3494837" cy="274320"/>
          </a:xfrm>
          <a:prstGeom prst="roundRect">
            <a:avLst>
              <a:gd name="adj" fmla="val 16667"/>
            </a:avLst>
          </a:prstGeom>
          <a:solidFill>
            <a:srgbClr val="0D7377"/>
          </a:solidFill>
          <a:ln/>
        </p:spPr>
      </p:sp>
      <p:sp>
        <p:nvSpPr>
          <p:cNvPr id="35" name="Text 33"/>
          <p:cNvSpPr/>
          <p:nvPr/>
        </p:nvSpPr>
        <p:spPr>
          <a:xfrm>
            <a:off x="5506517" y="2697480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D7377"/>
                </a:solidFill>
              </a:rPr>
              <a:t>91%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274320" y="3502152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IR Code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1920240" y="3547872"/>
            <a:ext cx="3840480" cy="2743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/>
        </p:spPr>
      </p:sp>
      <p:sp>
        <p:nvSpPr>
          <p:cNvPr id="38" name="Shape 36"/>
          <p:cNvSpPr/>
          <p:nvPr/>
        </p:nvSpPr>
        <p:spPr>
          <a:xfrm>
            <a:off x="1920240" y="3547872"/>
            <a:ext cx="3033979" cy="274320"/>
          </a:xfrm>
          <a:prstGeom prst="roundRect">
            <a:avLst>
              <a:gd name="adj" fmla="val 16667"/>
            </a:avLst>
          </a:prstGeom>
          <a:solidFill>
            <a:srgbClr val="1B4F8A"/>
          </a:solidFill>
          <a:ln/>
        </p:spPr>
      </p:sp>
      <p:sp>
        <p:nvSpPr>
          <p:cNvPr id="39" name="Text 37"/>
          <p:cNvSpPr/>
          <p:nvPr/>
        </p:nvSpPr>
        <p:spPr>
          <a:xfrm>
            <a:off x="5045659" y="3502152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4F8A"/>
                </a:solidFill>
              </a:rPr>
              <a:t>79%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274320" y="4306824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SS Code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1920240" y="4352544"/>
            <a:ext cx="3840480" cy="2743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/>
        </p:spPr>
      </p:sp>
      <p:sp>
        <p:nvSpPr>
          <p:cNvPr id="42" name="Shape 40"/>
          <p:cNvSpPr/>
          <p:nvPr/>
        </p:nvSpPr>
        <p:spPr>
          <a:xfrm>
            <a:off x="1920240" y="4352544"/>
            <a:ext cx="3610051" cy="274320"/>
          </a:xfrm>
          <a:prstGeom prst="roundRect">
            <a:avLst>
              <a:gd name="adj" fmla="val 16667"/>
            </a:avLst>
          </a:prstGeom>
          <a:solidFill>
            <a:srgbClr val="C89B3C"/>
          </a:solidFill>
          <a:ln/>
        </p:spPr>
      </p:sp>
      <p:sp>
        <p:nvSpPr>
          <p:cNvPr id="43" name="Text 41"/>
          <p:cNvSpPr/>
          <p:nvPr/>
        </p:nvSpPr>
        <p:spPr>
          <a:xfrm>
            <a:off x="5621731" y="4306824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89B3C"/>
                </a:solidFill>
              </a:rPr>
              <a:t>94%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274320" y="5111496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</a:rPr>
              <a:t>OSH Code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1920240" y="5157216"/>
            <a:ext cx="3840480" cy="274320"/>
          </a:xfrm>
          <a:prstGeom prst="roundRect">
            <a:avLst>
              <a:gd name="adj" fmla="val 16667"/>
            </a:avLst>
          </a:prstGeom>
          <a:solidFill>
            <a:srgbClr val="1E293B"/>
          </a:solidFill>
          <a:ln/>
        </p:spPr>
      </p:sp>
      <p:sp>
        <p:nvSpPr>
          <p:cNvPr id="46" name="Shape 44"/>
          <p:cNvSpPr/>
          <p:nvPr/>
        </p:nvSpPr>
        <p:spPr>
          <a:xfrm>
            <a:off x="1920240" y="5157216"/>
            <a:ext cx="2573122" cy="274320"/>
          </a:xfrm>
          <a:prstGeom prst="roundRect">
            <a:avLst>
              <a:gd name="adj" fmla="val 16667"/>
            </a:avLst>
          </a:prstGeom>
          <a:solidFill>
            <a:srgbClr val="1B6B4D"/>
          </a:solidFill>
          <a:ln/>
        </p:spPr>
      </p:sp>
      <p:sp>
        <p:nvSpPr>
          <p:cNvPr id="47" name="Text 45"/>
          <p:cNvSpPr/>
          <p:nvPr/>
        </p:nvSpPr>
        <p:spPr>
          <a:xfrm>
            <a:off x="4584802" y="5111496"/>
            <a:ext cx="457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B6B4D"/>
                </a:solidFill>
              </a:rPr>
              <a:t>67%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6217920" y="2304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 DISTRIBUTION</a:t>
            </a:r>
            <a:endParaRPr lang="en-US" sz="1100" dirty="0"/>
          </a:p>
        </p:txBody>
      </p:sp>
      <p:graphicFrame>
        <p:nvGraphicFramePr>
          <p:cNvPr id="49" name="Chart 0" descr=""/>
          <p:cNvGraphicFramePr/>
          <p:nvPr/>
        </p:nvGraphicFramePr>
        <p:xfrm>
          <a:off x="6035040" y="2514600"/>
          <a:ext cx="32004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0" name="Text 47"/>
          <p:cNvSpPr/>
          <p:nvPr/>
        </p:nvSpPr>
        <p:spPr>
          <a:xfrm>
            <a:off x="9326880" y="230428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MONTHLY COMPLIANCE TREND</a:t>
            </a:r>
            <a:endParaRPr lang="en-US" sz="1100" dirty="0"/>
          </a:p>
        </p:txBody>
      </p:sp>
      <p:graphicFrame>
        <p:nvGraphicFramePr>
          <p:cNvPr id="51" name="Chart 1" descr=""/>
          <p:cNvGraphicFramePr/>
          <p:nvPr/>
        </p:nvGraphicFramePr>
        <p:xfrm>
          <a:off x="9235440" y="2542032"/>
          <a:ext cx="27432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2" name="Text 48"/>
          <p:cNvSpPr/>
          <p:nvPr/>
        </p:nvSpPr>
        <p:spPr>
          <a:xfrm>
            <a:off x="274320" y="566928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35400"/>
                </a:solidFill>
              </a:rPr>
              <a:t>⚡ TOP PRIORITY ACTIONS</a:t>
            </a:r>
            <a:endParaRPr lang="en-US" sz="1000" dirty="0"/>
          </a:p>
        </p:txBody>
      </p:sp>
      <p:sp>
        <p:nvSpPr>
          <p:cNvPr id="53" name="Text 49"/>
          <p:cNvSpPr/>
          <p:nvPr/>
        </p:nvSpPr>
        <p:spPr>
          <a:xfrm>
            <a:off x="274320" y="5989320"/>
            <a:ext cx="1161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1. Complete Wage Register audit — Target: 95% accuracy by Q3</a:t>
            </a:r>
            <a:endParaRPr lang="en-US" sz="900" dirty="0"/>
          </a:p>
        </p:txBody>
      </p:sp>
      <p:sp>
        <p:nvSpPr>
          <p:cNvPr id="54" name="Text 50"/>
          <p:cNvSpPr/>
          <p:nvPr/>
        </p:nvSpPr>
        <p:spPr>
          <a:xfrm>
            <a:off x="274320" y="6245352"/>
            <a:ext cx="1161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2. Certify Standing Orders for 2 establishments pending since 2023</a:t>
            </a:r>
            <a:endParaRPr lang="en-US" sz="900" dirty="0"/>
          </a:p>
        </p:txBody>
      </p:sp>
      <p:sp>
        <p:nvSpPr>
          <p:cNvPr id="55" name="Text 51"/>
          <p:cNvSpPr/>
          <p:nvPr/>
        </p:nvSpPr>
        <p:spPr>
          <a:xfrm>
            <a:off x="274320" y="6501384"/>
            <a:ext cx="11612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</a:rPr>
              <a:t>3. Initiate OSH Code compliance gap assessment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</a:rPr>
              <a:t>WORKFORCE LIFECYCLE MAPPING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8C4"/>
                </a:solidFill>
              </a:rPr>
              <a:t>Employee Journey Through the Four Labour Codes — From Hire to Retire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3291840"/>
            <a:ext cx="11155680" cy="0"/>
          </a:xfrm>
          <a:prstGeom prst="line">
            <a:avLst/>
          </a:prstGeom>
          <a:noFill/>
          <a:ln w="254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005840"/>
            <a:ext cx="182880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05840"/>
            <a:ext cx="1828800" cy="38404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0698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RECRUITMENT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960120" y="3108960"/>
            <a:ext cx="457200" cy="384048"/>
          </a:xfrm>
          <a:prstGeom prst="ellipse">
            <a:avLst/>
          </a:prstGeom>
          <a:solidFill>
            <a:srgbClr val="0D73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60120" y="316382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4048" y="1463040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›  No gender discrimination in hiring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84048" y="1847088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›  Equal pay for equal work from Day 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84048" y="2231136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›  Fixed-term employment contract option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84048" y="2615184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›  Standing orders to define job classification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4320" y="3611880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0D737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274320" y="3639312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Wages Code §3, IR Code §2(o)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286000" y="1005840"/>
            <a:ext cx="182880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286000" y="1005840"/>
            <a:ext cx="1828800" cy="384048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0" y="10698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ONBOARDING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2971800" y="3108960"/>
            <a:ext cx="457200" cy="384048"/>
          </a:xfrm>
          <a:prstGeom prst="ellipse">
            <a:avLst/>
          </a:prstGeom>
          <a:solidFill>
            <a:srgbClr val="1B4F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71800" y="316382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395728" y="1463040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›  PF/ESI enrolment within 30 days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2395728" y="1847088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›  Issue appointment letter (as per SO)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2395728" y="2231136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›  Explain standing orders to worker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2395728" y="2615184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›  Register with ESIC if applicable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2286000" y="3611880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1B4F8A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2286000" y="3639312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SS Code §2, IR Code §28-36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4297680" y="1005840"/>
            <a:ext cx="182880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297680" y="1005840"/>
            <a:ext cx="1828800" cy="384048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297680" y="10698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EMPLOYMENT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983480" y="3108960"/>
            <a:ext cx="457200" cy="384048"/>
          </a:xfrm>
          <a:prstGeom prst="ellipse">
            <a:avLst/>
          </a:prstGeom>
          <a:solidFill>
            <a:srgbClr val="0A23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316382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407408" y="1463040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›  Pay ≥ minimum wages on time each period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407408" y="1847088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›  Max 50% deductions from wages</a:t>
            </a:r>
            <a:endParaRPr lang="en-US" sz="800" dirty="0"/>
          </a:p>
        </p:txBody>
      </p:sp>
      <p:sp>
        <p:nvSpPr>
          <p:cNvPr id="35" name="Text 33"/>
          <p:cNvSpPr/>
          <p:nvPr/>
        </p:nvSpPr>
        <p:spPr>
          <a:xfrm>
            <a:off x="4407408" y="2231136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›  Maintain wage registers &amp; issue slips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4407408" y="2615184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›  GRC for grievance resolution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297680" y="3611880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0A234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297680" y="3639312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Wages Code §5-17, IR Code §4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6309360" y="1005840"/>
            <a:ext cx="182880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309360" y="1005840"/>
            <a:ext cx="1828800" cy="384048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9360" y="10698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SUSPENSION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995160" y="3108960"/>
            <a:ext cx="457200" cy="384048"/>
          </a:xfrm>
          <a:prstGeom prst="ellipse">
            <a:avLst/>
          </a:prstGeom>
          <a:solidFill>
            <a:srgbClr val="D3540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95160" y="316382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6419088" y="1463040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›  Subsistence allowance: 50% for 90 days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6419088" y="1847088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›  75% after 90 days (if delay not by worker)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419088" y="2231136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›  Enquiry to complete within 90 days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6419088" y="2615184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›  Follow natural justice principles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309360" y="3611880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D35400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6309360" y="3639312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IR Code §38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8321040" y="1005840"/>
            <a:ext cx="182880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8321040" y="1005840"/>
            <a:ext cx="1828800" cy="384048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321040" y="10698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SEPARATION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9006840" y="3108960"/>
            <a:ext cx="457200" cy="384048"/>
          </a:xfrm>
          <a:prstGeom prst="ellipse">
            <a:avLst/>
          </a:prstGeom>
          <a:solidFill>
            <a:srgbClr val="C0392B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9006840" y="316382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8430768" y="1463040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›  Retrenchment: 1 month notice + 15 days pay/yr</a:t>
            </a:r>
            <a:endParaRPr lang="en-US" sz="800" dirty="0"/>
          </a:p>
        </p:txBody>
      </p:sp>
      <p:sp>
        <p:nvSpPr>
          <p:cNvPr id="56" name="Text 54"/>
          <p:cNvSpPr/>
          <p:nvPr/>
        </p:nvSpPr>
        <p:spPr>
          <a:xfrm>
            <a:off x="8430768" y="1847088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›  300+ workers: prior government approval</a:t>
            </a:r>
            <a:endParaRPr lang="en-US" sz="800" dirty="0"/>
          </a:p>
        </p:txBody>
      </p:sp>
      <p:sp>
        <p:nvSpPr>
          <p:cNvPr id="57" name="Text 55"/>
          <p:cNvSpPr/>
          <p:nvPr/>
        </p:nvSpPr>
        <p:spPr>
          <a:xfrm>
            <a:off x="8430768" y="2231136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›  Final settlement within 2 working days</a:t>
            </a:r>
            <a:endParaRPr lang="en-US" sz="800" dirty="0"/>
          </a:p>
        </p:txBody>
      </p:sp>
      <p:sp>
        <p:nvSpPr>
          <p:cNvPr id="58" name="Text 56"/>
          <p:cNvSpPr/>
          <p:nvPr/>
        </p:nvSpPr>
        <p:spPr>
          <a:xfrm>
            <a:off x="8430768" y="2615184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›  Gratuity: 5 yrs service (1 yr for FTE)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8321040" y="3611880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8321040" y="3639312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IR Code §70-80, SS Code</a:t>
            </a:r>
            <a:endParaRPr lang="en-US" sz="750" dirty="0"/>
          </a:p>
        </p:txBody>
      </p:sp>
      <p:sp>
        <p:nvSpPr>
          <p:cNvPr id="61" name="Shape 59"/>
          <p:cNvSpPr/>
          <p:nvPr/>
        </p:nvSpPr>
        <p:spPr>
          <a:xfrm>
            <a:off x="10332720" y="1005840"/>
            <a:ext cx="1828800" cy="2057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10332720" y="1005840"/>
            <a:ext cx="1828800" cy="384048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332720" y="106984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POST-EXIT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11018520" y="3108960"/>
            <a:ext cx="457200" cy="384048"/>
          </a:xfrm>
          <a:prstGeom prst="ellipse">
            <a:avLst/>
          </a:prstGeom>
          <a:solidFill>
            <a:srgbClr val="9B59B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1018520" y="316382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10442448" y="1463040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›  PF withdrawal/transfer within 30 days</a:t>
            </a:r>
            <a:endParaRPr lang="en-US" sz="800" dirty="0"/>
          </a:p>
        </p:txBody>
      </p:sp>
      <p:sp>
        <p:nvSpPr>
          <p:cNvPr id="67" name="Text 65"/>
          <p:cNvSpPr/>
          <p:nvPr/>
        </p:nvSpPr>
        <p:spPr>
          <a:xfrm>
            <a:off x="10442448" y="1847088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›  ESI benefits continue for 52 weeks</a:t>
            </a:r>
            <a:endParaRPr lang="en-US" sz="800" dirty="0"/>
          </a:p>
        </p:txBody>
      </p:sp>
      <p:sp>
        <p:nvSpPr>
          <p:cNvPr id="68" name="Text 66"/>
          <p:cNvSpPr/>
          <p:nvPr/>
        </p:nvSpPr>
        <p:spPr>
          <a:xfrm>
            <a:off x="10442448" y="2231136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›  Re-skilling fund credited within 45 days</a:t>
            </a:r>
            <a:endParaRPr lang="en-US" sz="800" dirty="0"/>
          </a:p>
        </p:txBody>
      </p:sp>
      <p:sp>
        <p:nvSpPr>
          <p:cNvPr id="69" name="Text 67"/>
          <p:cNvSpPr/>
          <p:nvPr/>
        </p:nvSpPr>
        <p:spPr>
          <a:xfrm>
            <a:off x="10442448" y="2615184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334155"/>
                </a:solidFill>
              </a:rPr>
              <a:t>›  Preference in re-employment (1 year)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10332720" y="3611880"/>
            <a:ext cx="1828800" cy="548640"/>
          </a:xfrm>
          <a:prstGeom prst="roundRect">
            <a:avLst>
              <a:gd name="adj" fmla="val 10000"/>
            </a:avLst>
          </a:prstGeom>
          <a:solidFill>
            <a:srgbClr val="9B59B6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10332720" y="3639312"/>
            <a:ext cx="18288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</a:rPr>
              <a:t>SS Code, IR Code §72, §83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274320" y="4343400"/>
            <a:ext cx="11612880" cy="1280160"/>
          </a:xfrm>
          <a:prstGeom prst="roundRect">
            <a:avLst>
              <a:gd name="adj" fmla="val 7143"/>
            </a:avLst>
          </a:prstGeom>
          <a:solidFill>
            <a:srgbClr val="0A2342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3" name="Text 71"/>
          <p:cNvSpPr/>
          <p:nvPr/>
        </p:nvSpPr>
        <p:spPr>
          <a:xfrm>
            <a:off x="457200" y="44348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89B3C"/>
                </a:solidFill>
              </a:rPr>
              <a:t>★  FIXED-TERM EMPLOYMENT (FTE) — NEW PROVISION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457200" y="480060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8C4"/>
                </a:solidFill>
              </a:rPr>
              <a:t>● Written contract for fixed period</a:t>
            </a:r>
            <a:endParaRPr lang="en-US" sz="950" dirty="0"/>
          </a:p>
        </p:txBody>
      </p:sp>
      <p:sp>
        <p:nvSpPr>
          <p:cNvPr id="75" name="Text 73"/>
          <p:cNvSpPr/>
          <p:nvPr/>
        </p:nvSpPr>
        <p:spPr>
          <a:xfrm>
            <a:off x="457200" y="5047488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8C4"/>
                </a:solidFill>
              </a:rPr>
              <a:t>● Same wages/benefits as permanent workers</a:t>
            </a:r>
            <a:endParaRPr lang="en-US" sz="950" dirty="0"/>
          </a:p>
        </p:txBody>
      </p:sp>
      <p:sp>
        <p:nvSpPr>
          <p:cNvPr id="76" name="Text 74"/>
          <p:cNvSpPr/>
          <p:nvPr/>
        </p:nvSpPr>
        <p:spPr>
          <a:xfrm>
            <a:off x="457200" y="5294376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8C4"/>
                </a:solidFill>
              </a:rPr>
              <a:t>● Pro-rata statutory benefits throughout</a:t>
            </a:r>
            <a:endParaRPr lang="en-US" sz="950" dirty="0"/>
          </a:p>
        </p:txBody>
      </p:sp>
      <p:sp>
        <p:nvSpPr>
          <p:cNvPr id="77" name="Text 75"/>
          <p:cNvSpPr/>
          <p:nvPr/>
        </p:nvSpPr>
        <p:spPr>
          <a:xfrm>
            <a:off x="6309360" y="4800600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8C4"/>
                </a:solidFill>
              </a:rPr>
              <a:t>● Gratuity after 1 year (vs 5 years for permanent)</a:t>
            </a:r>
            <a:endParaRPr lang="en-US" sz="950" dirty="0"/>
          </a:p>
        </p:txBody>
      </p:sp>
      <p:sp>
        <p:nvSpPr>
          <p:cNvPr id="78" name="Text 76"/>
          <p:cNvSpPr/>
          <p:nvPr/>
        </p:nvSpPr>
        <p:spPr>
          <a:xfrm>
            <a:off x="6309360" y="5047488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8C4"/>
                </a:solidFill>
              </a:rPr>
              <a:t>● No retrenchment compensation at contract end</a:t>
            </a:r>
            <a:endParaRPr lang="en-US" sz="950" dirty="0"/>
          </a:p>
        </p:txBody>
      </p:sp>
      <p:sp>
        <p:nvSpPr>
          <p:cNvPr id="79" name="Text 77"/>
          <p:cNvSpPr/>
          <p:nvPr/>
        </p:nvSpPr>
        <p:spPr>
          <a:xfrm>
            <a:off x="6309360" y="5294376"/>
            <a:ext cx="5669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8C4"/>
                </a:solidFill>
              </a:rPr>
              <a:t>● Can be renewed; no automatic permanency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</a:rPr>
              <a:t>INTERNATIONAL COMPARISON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85216"/>
            <a:ext cx="11430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D4F0EC"/>
                </a:solidFill>
              </a:rPr>
              <a:t>India's Labour Standards vs Global Benchmarks: ILO Conventions, USA, UK, Germany, Singapore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137160" y="987552"/>
            <a:ext cx="1645920" cy="438912"/>
          </a:xfrm>
          <a:prstGeom prst="rect">
            <a:avLst/>
          </a:prstGeom>
          <a:solidFill>
            <a:srgbClr val="0A234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100584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Parameter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1783080" y="987552"/>
            <a:ext cx="2194560" cy="438912"/>
          </a:xfrm>
          <a:prstGeom prst="rect">
            <a:avLst/>
          </a:prstGeom>
          <a:solidFill>
            <a:srgbClr val="0D737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100584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India (New Codes)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977640" y="987552"/>
            <a:ext cx="2011680" cy="438912"/>
          </a:xfrm>
          <a:prstGeom prst="rect">
            <a:avLst/>
          </a:prstGeom>
          <a:solidFill>
            <a:srgbClr val="B7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0" y="10058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USA (FLSA/FMLA)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5989320" y="987552"/>
            <a:ext cx="2011680" cy="438912"/>
          </a:xfrm>
          <a:prstGeom prst="rect">
            <a:avLst/>
          </a:prstGeom>
          <a:solidFill>
            <a:srgbClr val="1B5E2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10058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UK (Employment Rights)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8001000" y="987552"/>
            <a:ext cx="2011680" cy="438912"/>
          </a:xfrm>
          <a:prstGeom prst="rect">
            <a:avLst/>
          </a:prstGeom>
          <a:solidFill>
            <a:srgbClr val="1B4F8A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046720" y="100584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Germany (Labour Law)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10012680" y="987552"/>
            <a:ext cx="1965960" cy="438912"/>
          </a:xfrm>
          <a:prstGeom prst="rect">
            <a:avLst/>
          </a:prstGeom>
          <a:solidFill>
            <a:srgbClr val="4A148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0" y="100584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</a:rPr>
              <a:t>Singapore (EA/MOM)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37160" y="1426464"/>
            <a:ext cx="1645920" cy="1005840"/>
          </a:xfrm>
          <a:prstGeom prst="rect">
            <a:avLst/>
          </a:prstGeom>
          <a:solidFill>
            <a:srgbClr val="E8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92024" y="1472184"/>
            <a:ext cx="15361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A2342"/>
                </a:solidFill>
              </a:rPr>
              <a:t>Minimum Wage</a:t>
            </a:r>
            <a:endParaRPr lang="en-US" sz="780" dirty="0"/>
          </a:p>
        </p:txBody>
      </p:sp>
      <p:sp>
        <p:nvSpPr>
          <p:cNvPr id="19" name="Shape 17"/>
          <p:cNvSpPr/>
          <p:nvPr/>
        </p:nvSpPr>
        <p:spPr>
          <a:xfrm>
            <a:off x="1783080" y="1426464"/>
            <a:ext cx="2194560" cy="100584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837944" y="1472184"/>
            <a:ext cx="20848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34155"/>
                </a:solidFill>
              </a:rPr>
              <a:t>Floor wage concept; State-wise variation; ₹178–750/day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3977640" y="1426464"/>
            <a:ext cx="2011680" cy="100584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032504" y="1472184"/>
            <a:ext cx="1901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34155"/>
                </a:solidFill>
              </a:rPr>
              <a:t>Federal: $7.25/hr; State rates higher (up to $17/hr in CA)</a:t>
            </a:r>
            <a:endParaRPr lang="en-US" sz="780" dirty="0"/>
          </a:p>
        </p:txBody>
      </p:sp>
      <p:sp>
        <p:nvSpPr>
          <p:cNvPr id="23" name="Shape 21"/>
          <p:cNvSpPr/>
          <p:nvPr/>
        </p:nvSpPr>
        <p:spPr>
          <a:xfrm>
            <a:off x="5989320" y="1426464"/>
            <a:ext cx="2011680" cy="100584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44184" y="1472184"/>
            <a:ext cx="1901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34155"/>
                </a:solidFill>
              </a:rPr>
              <a:t>£11.44/hr (National Living Wage 2024)</a:t>
            </a:r>
            <a:endParaRPr lang="en-US" sz="780" dirty="0"/>
          </a:p>
        </p:txBody>
      </p:sp>
      <p:sp>
        <p:nvSpPr>
          <p:cNvPr id="25" name="Shape 23"/>
          <p:cNvSpPr/>
          <p:nvPr/>
        </p:nvSpPr>
        <p:spPr>
          <a:xfrm>
            <a:off x="8001000" y="1426464"/>
            <a:ext cx="2011680" cy="100584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055864" y="1472184"/>
            <a:ext cx="1901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34155"/>
                </a:solidFill>
              </a:rPr>
              <a:t>€12.41/hr; adjusted annually</a:t>
            </a:r>
            <a:endParaRPr lang="en-US" sz="780" dirty="0"/>
          </a:p>
        </p:txBody>
      </p:sp>
      <p:sp>
        <p:nvSpPr>
          <p:cNvPr id="27" name="Shape 25"/>
          <p:cNvSpPr/>
          <p:nvPr/>
        </p:nvSpPr>
        <p:spPr>
          <a:xfrm>
            <a:off x="10012680" y="1426464"/>
            <a:ext cx="1965960" cy="100584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067544" y="1472184"/>
            <a:ext cx="18562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34155"/>
                </a:solidFill>
              </a:rPr>
              <a:t>Progressive Wage Model by sector; no single min wage</a:t>
            </a:r>
            <a:endParaRPr lang="en-US" sz="780" dirty="0"/>
          </a:p>
        </p:txBody>
      </p:sp>
      <p:sp>
        <p:nvSpPr>
          <p:cNvPr id="29" name="Shape 27"/>
          <p:cNvSpPr/>
          <p:nvPr/>
        </p:nvSpPr>
        <p:spPr>
          <a:xfrm>
            <a:off x="137160" y="2468880"/>
            <a:ext cx="1645920" cy="1005840"/>
          </a:xfrm>
          <a:prstGeom prst="rect">
            <a:avLst/>
          </a:prstGeom>
          <a:solidFill>
            <a:srgbClr val="E8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92024" y="2514600"/>
            <a:ext cx="15361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A2342"/>
                </a:solidFill>
              </a:rPr>
              <a:t>Working Hours</a:t>
            </a:r>
            <a:endParaRPr lang="en-US" sz="780" dirty="0"/>
          </a:p>
        </p:txBody>
      </p:sp>
      <p:sp>
        <p:nvSpPr>
          <p:cNvPr id="31" name="Shape 29"/>
          <p:cNvSpPr/>
          <p:nvPr/>
        </p:nvSpPr>
        <p:spPr>
          <a:xfrm>
            <a:off x="1783080" y="2468880"/>
            <a:ext cx="21945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837944" y="2514600"/>
            <a:ext cx="20848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34155"/>
                </a:solidFill>
              </a:rPr>
              <a:t>9 hrs/day, 48 hrs/week (Factories Act); OT @ 2x rate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3977640" y="246888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032504" y="2514600"/>
            <a:ext cx="1901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34155"/>
                </a:solidFill>
              </a:rPr>
              <a:t>40 hrs/week; OT after 40 hrs @ 1.5x (FLSA)</a:t>
            </a:r>
            <a:endParaRPr lang="en-US" sz="780" dirty="0"/>
          </a:p>
        </p:txBody>
      </p:sp>
      <p:sp>
        <p:nvSpPr>
          <p:cNvPr id="35" name="Shape 33"/>
          <p:cNvSpPr/>
          <p:nvPr/>
        </p:nvSpPr>
        <p:spPr>
          <a:xfrm>
            <a:off x="5989320" y="246888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044184" y="2514600"/>
            <a:ext cx="1901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34155"/>
                </a:solidFill>
              </a:rPr>
              <a:t>48 hrs/week (Working Time Directive); opt-out possible</a:t>
            </a:r>
            <a:endParaRPr lang="en-US" sz="780" dirty="0"/>
          </a:p>
        </p:txBody>
      </p:sp>
      <p:sp>
        <p:nvSpPr>
          <p:cNvPr id="37" name="Shape 35"/>
          <p:cNvSpPr/>
          <p:nvPr/>
        </p:nvSpPr>
        <p:spPr>
          <a:xfrm>
            <a:off x="8001000" y="2468880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55864" y="2514600"/>
            <a:ext cx="1901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34155"/>
                </a:solidFill>
              </a:rPr>
              <a:t>8 hrs/day, 48 max; must have 11hr rest between shifts</a:t>
            </a:r>
            <a:endParaRPr lang="en-US" sz="780" dirty="0"/>
          </a:p>
        </p:txBody>
      </p:sp>
      <p:sp>
        <p:nvSpPr>
          <p:cNvPr id="39" name="Shape 37"/>
          <p:cNvSpPr/>
          <p:nvPr/>
        </p:nvSpPr>
        <p:spPr>
          <a:xfrm>
            <a:off x="10012680" y="2468880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0067544" y="2514600"/>
            <a:ext cx="18562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34155"/>
                </a:solidFill>
              </a:rPr>
              <a:t>44 hrs/week; OT: max 72 hrs/month</a:t>
            </a:r>
            <a:endParaRPr lang="en-US" sz="780" dirty="0"/>
          </a:p>
        </p:txBody>
      </p:sp>
      <p:sp>
        <p:nvSpPr>
          <p:cNvPr id="41" name="Shape 39"/>
          <p:cNvSpPr/>
          <p:nvPr/>
        </p:nvSpPr>
        <p:spPr>
          <a:xfrm>
            <a:off x="137160" y="3511296"/>
            <a:ext cx="1645920" cy="1005840"/>
          </a:xfrm>
          <a:prstGeom prst="rect">
            <a:avLst/>
          </a:prstGeom>
          <a:solidFill>
            <a:srgbClr val="E8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92024" y="3557016"/>
            <a:ext cx="15361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A2342"/>
                </a:solidFill>
              </a:rPr>
              <a:t>Social Security</a:t>
            </a:r>
            <a:endParaRPr lang="en-US" sz="780" dirty="0"/>
          </a:p>
        </p:txBody>
      </p:sp>
      <p:sp>
        <p:nvSpPr>
          <p:cNvPr id="43" name="Shape 41"/>
          <p:cNvSpPr/>
          <p:nvPr/>
        </p:nvSpPr>
        <p:spPr>
          <a:xfrm>
            <a:off x="1783080" y="3511296"/>
            <a:ext cx="2194560" cy="100584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837944" y="3557016"/>
            <a:ext cx="20848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34155"/>
                </a:solidFill>
              </a:rPr>
              <a:t>PF 12%+12%; ESI 0.75%+3.25%; now gig workers covered</a:t>
            </a:r>
            <a:endParaRPr lang="en-US" sz="780" dirty="0"/>
          </a:p>
        </p:txBody>
      </p:sp>
      <p:sp>
        <p:nvSpPr>
          <p:cNvPr id="45" name="Shape 43"/>
          <p:cNvSpPr/>
          <p:nvPr/>
        </p:nvSpPr>
        <p:spPr>
          <a:xfrm>
            <a:off x="3977640" y="3511296"/>
            <a:ext cx="2011680" cy="100584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032504" y="3557016"/>
            <a:ext cx="1901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34155"/>
                </a:solidFill>
              </a:rPr>
              <a:t>Social Security: 6.2%+6.2%; Medicare: 1.45%+1.45%</a:t>
            </a:r>
            <a:endParaRPr lang="en-US" sz="780" dirty="0"/>
          </a:p>
        </p:txBody>
      </p:sp>
      <p:sp>
        <p:nvSpPr>
          <p:cNvPr id="47" name="Shape 45"/>
          <p:cNvSpPr/>
          <p:nvPr/>
        </p:nvSpPr>
        <p:spPr>
          <a:xfrm>
            <a:off x="5989320" y="3511296"/>
            <a:ext cx="2011680" cy="100584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044184" y="3557016"/>
            <a:ext cx="1901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34155"/>
                </a:solidFill>
              </a:rPr>
              <a:t>National Insurance: 8% (employee), 13.8% (employer)</a:t>
            </a:r>
            <a:endParaRPr lang="en-US" sz="780" dirty="0"/>
          </a:p>
        </p:txBody>
      </p:sp>
      <p:sp>
        <p:nvSpPr>
          <p:cNvPr id="49" name="Shape 47"/>
          <p:cNvSpPr/>
          <p:nvPr/>
        </p:nvSpPr>
        <p:spPr>
          <a:xfrm>
            <a:off x="8001000" y="3511296"/>
            <a:ext cx="2011680" cy="100584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055864" y="3557016"/>
            <a:ext cx="1901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34155"/>
                </a:solidFill>
              </a:rPr>
              <a:t>~20% pension; ~8% health; ~3.05% long-term care</a:t>
            </a:r>
            <a:endParaRPr lang="en-US" sz="780" dirty="0"/>
          </a:p>
        </p:txBody>
      </p:sp>
      <p:sp>
        <p:nvSpPr>
          <p:cNvPr id="51" name="Shape 49"/>
          <p:cNvSpPr/>
          <p:nvPr/>
        </p:nvSpPr>
        <p:spPr>
          <a:xfrm>
            <a:off x="10012680" y="3511296"/>
            <a:ext cx="1965960" cy="100584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0067544" y="3557016"/>
            <a:ext cx="18562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34155"/>
                </a:solidFill>
              </a:rPr>
              <a:t>CPF: 20% employee + 17% employer (for citizens)</a:t>
            </a:r>
            <a:endParaRPr lang="en-US" sz="780" dirty="0"/>
          </a:p>
        </p:txBody>
      </p:sp>
      <p:sp>
        <p:nvSpPr>
          <p:cNvPr id="53" name="Shape 51"/>
          <p:cNvSpPr/>
          <p:nvPr/>
        </p:nvSpPr>
        <p:spPr>
          <a:xfrm>
            <a:off x="137160" y="4553712"/>
            <a:ext cx="1645920" cy="1005840"/>
          </a:xfrm>
          <a:prstGeom prst="rect">
            <a:avLst/>
          </a:prstGeom>
          <a:solidFill>
            <a:srgbClr val="E8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92024" y="4599432"/>
            <a:ext cx="15361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A2342"/>
                </a:solidFill>
              </a:rPr>
              <a:t>Maternity Leave</a:t>
            </a:r>
            <a:endParaRPr lang="en-US" sz="780" dirty="0"/>
          </a:p>
        </p:txBody>
      </p:sp>
      <p:sp>
        <p:nvSpPr>
          <p:cNvPr id="55" name="Shape 53"/>
          <p:cNvSpPr/>
          <p:nvPr/>
        </p:nvSpPr>
        <p:spPr>
          <a:xfrm>
            <a:off x="1783080" y="4553712"/>
            <a:ext cx="21945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837944" y="4599432"/>
            <a:ext cx="20848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34155"/>
                </a:solidFill>
              </a:rPr>
              <a:t>26 weeks (first 2 children); 12 weeks (3rd+ child); 10+ employees</a:t>
            </a:r>
            <a:endParaRPr lang="en-US" sz="780" dirty="0"/>
          </a:p>
        </p:txBody>
      </p:sp>
      <p:sp>
        <p:nvSpPr>
          <p:cNvPr id="57" name="Shape 55"/>
          <p:cNvSpPr/>
          <p:nvPr/>
        </p:nvSpPr>
        <p:spPr>
          <a:xfrm>
            <a:off x="3977640" y="4553712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032504" y="4599432"/>
            <a:ext cx="1901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34155"/>
                </a:solidFill>
              </a:rPr>
              <a:t>12 weeks unpaid (FMLA); no federal paid leave</a:t>
            </a:r>
            <a:endParaRPr lang="en-US" sz="780" dirty="0"/>
          </a:p>
        </p:txBody>
      </p:sp>
      <p:sp>
        <p:nvSpPr>
          <p:cNvPr id="59" name="Shape 57"/>
          <p:cNvSpPr/>
          <p:nvPr/>
        </p:nvSpPr>
        <p:spPr>
          <a:xfrm>
            <a:off x="5989320" y="4553712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044184" y="4599432"/>
            <a:ext cx="1901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34155"/>
                </a:solidFill>
              </a:rPr>
              <a:t>52 weeks; 39 weeks paid (90% + statutory)</a:t>
            </a:r>
            <a:endParaRPr lang="en-US" sz="780" dirty="0"/>
          </a:p>
        </p:txBody>
      </p:sp>
      <p:sp>
        <p:nvSpPr>
          <p:cNvPr id="61" name="Shape 59"/>
          <p:cNvSpPr/>
          <p:nvPr/>
        </p:nvSpPr>
        <p:spPr>
          <a:xfrm>
            <a:off x="8001000" y="4553712"/>
            <a:ext cx="20116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8055864" y="4599432"/>
            <a:ext cx="1901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34155"/>
                </a:solidFill>
              </a:rPr>
              <a:t>14 weeks; paid at 100%; Parental leave up to 3 years</a:t>
            </a:r>
            <a:endParaRPr lang="en-US" sz="780" dirty="0"/>
          </a:p>
        </p:txBody>
      </p:sp>
      <p:sp>
        <p:nvSpPr>
          <p:cNvPr id="63" name="Shape 61"/>
          <p:cNvSpPr/>
          <p:nvPr/>
        </p:nvSpPr>
        <p:spPr>
          <a:xfrm>
            <a:off x="10012680" y="4553712"/>
            <a:ext cx="19659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0067544" y="4599432"/>
            <a:ext cx="18562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34155"/>
                </a:solidFill>
              </a:rPr>
              <a:t>16 weeks (government-paid for citizens)</a:t>
            </a:r>
            <a:endParaRPr lang="en-US" sz="780" dirty="0"/>
          </a:p>
        </p:txBody>
      </p:sp>
      <p:sp>
        <p:nvSpPr>
          <p:cNvPr id="65" name="Shape 63"/>
          <p:cNvSpPr/>
          <p:nvPr/>
        </p:nvSpPr>
        <p:spPr>
          <a:xfrm>
            <a:off x="137160" y="5596128"/>
            <a:ext cx="1645920" cy="1005840"/>
          </a:xfrm>
          <a:prstGeom prst="rect">
            <a:avLst/>
          </a:prstGeom>
          <a:solidFill>
            <a:srgbClr val="E8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92024" y="5641848"/>
            <a:ext cx="153619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0A2342"/>
                </a:solidFill>
              </a:rPr>
              <a:t>Retrenchment</a:t>
            </a:r>
            <a:endParaRPr lang="en-US" sz="780" dirty="0"/>
          </a:p>
        </p:txBody>
      </p:sp>
      <p:sp>
        <p:nvSpPr>
          <p:cNvPr id="67" name="Shape 65"/>
          <p:cNvSpPr/>
          <p:nvPr/>
        </p:nvSpPr>
        <p:spPr>
          <a:xfrm>
            <a:off x="1783080" y="5596128"/>
            <a:ext cx="2194560" cy="100584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837944" y="5641848"/>
            <a:ext cx="20848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34155"/>
                </a:solidFill>
              </a:rPr>
              <a:t>1 month notice; 15 days pay/yr; 300+ workers: govt approval</a:t>
            </a:r>
            <a:endParaRPr lang="en-US" sz="780" dirty="0"/>
          </a:p>
        </p:txBody>
      </p:sp>
      <p:sp>
        <p:nvSpPr>
          <p:cNvPr id="69" name="Shape 67"/>
          <p:cNvSpPr/>
          <p:nvPr/>
        </p:nvSpPr>
        <p:spPr>
          <a:xfrm>
            <a:off x="3977640" y="5596128"/>
            <a:ext cx="2011680" cy="100584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032504" y="5641848"/>
            <a:ext cx="1901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34155"/>
                </a:solidFill>
              </a:rPr>
              <a:t>At-will employment; 60-day notice (WARN Act, 100+ employees)</a:t>
            </a:r>
            <a:endParaRPr lang="en-US" sz="780" dirty="0"/>
          </a:p>
        </p:txBody>
      </p:sp>
      <p:sp>
        <p:nvSpPr>
          <p:cNvPr id="71" name="Shape 69"/>
          <p:cNvSpPr/>
          <p:nvPr/>
        </p:nvSpPr>
        <p:spPr>
          <a:xfrm>
            <a:off x="5989320" y="5596128"/>
            <a:ext cx="2011680" cy="100584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044184" y="5641848"/>
            <a:ext cx="1901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34155"/>
                </a:solidFill>
              </a:rPr>
              <a:t>1 week/yr of service (min 2 yrs); collective consultation 30–45 days</a:t>
            </a:r>
            <a:endParaRPr lang="en-US" sz="780" dirty="0"/>
          </a:p>
        </p:txBody>
      </p:sp>
      <p:sp>
        <p:nvSpPr>
          <p:cNvPr id="73" name="Shape 71"/>
          <p:cNvSpPr/>
          <p:nvPr/>
        </p:nvSpPr>
        <p:spPr>
          <a:xfrm>
            <a:off x="8001000" y="5596128"/>
            <a:ext cx="2011680" cy="100584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8055864" y="5641848"/>
            <a:ext cx="190195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34155"/>
                </a:solidFill>
              </a:rPr>
              <a:t>Strict protection; Works Council consultation; severance by social plan</a:t>
            </a:r>
            <a:endParaRPr lang="en-US" sz="780" dirty="0"/>
          </a:p>
        </p:txBody>
      </p:sp>
      <p:sp>
        <p:nvSpPr>
          <p:cNvPr id="75" name="Shape 73"/>
          <p:cNvSpPr/>
          <p:nvPr/>
        </p:nvSpPr>
        <p:spPr>
          <a:xfrm>
            <a:off x="10012680" y="5596128"/>
            <a:ext cx="1965960" cy="1005840"/>
          </a:xfrm>
          <a:prstGeom prst="rect">
            <a:avLst/>
          </a:prstGeom>
          <a:solidFill>
            <a:srgbClr val="F0F9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10067544" y="5641848"/>
            <a:ext cx="1856232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dirty="0">
                <a:solidFill>
                  <a:srgbClr val="334155"/>
                </a:solidFill>
              </a:rPr>
              <a:t>No statutory retrenchment benefit; MOM guidelines apply</a:t>
            </a:r>
            <a:endParaRPr lang="en-US" sz="7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2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71A33"/>
          </a:solidFill>
          <a:ln w="12700">
            <a:solidFill>
              <a:srgbClr val="071A3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400" kern="0" dirty="0">
                <a:solidFill>
                  <a:srgbClr val="FFFFFF"/>
                </a:solidFill>
              </a:rPr>
              <a:t>COMPLIANCE MATURITY MODEL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89B3C"/>
                </a:solidFill>
              </a:rPr>
              <a:t>5-Level HR Legal Readiness Framework for the Four Labour Codes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74320" y="5303520"/>
            <a:ext cx="1371600" cy="100584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5349240"/>
            <a:ext cx="1371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1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274320" y="2926080"/>
            <a:ext cx="1371600" cy="2194560"/>
          </a:xfrm>
          <a:prstGeom prst="roundRect">
            <a:avLst>
              <a:gd name="adj" fmla="val 5333"/>
            </a:avLst>
          </a:prstGeom>
          <a:solidFill>
            <a:srgbClr val="0D1B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299923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0392B"/>
                </a:solidFill>
              </a:rPr>
              <a:t>INITIAL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20040" y="327355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8C4"/>
                </a:solidFill>
              </a:rPr>
              <a:t>Reactive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47472" y="3520440"/>
            <a:ext cx="12252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Ad hoc compliance. No documented policies. Compliance triggered only by legal notices or audits.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347472" y="4389120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0392B"/>
                </a:solidFill>
              </a:rPr>
              <a:t>✓ No wage registers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47472" y="4636008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0392B"/>
                </a:solidFill>
              </a:rPr>
              <a:t>✓ PF/ESI compliance gaps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347472" y="4882896"/>
            <a:ext cx="12252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0392B"/>
                </a:solidFill>
              </a:rPr>
              <a:t>✓ No standing orders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828800" y="4736592"/>
            <a:ext cx="1828800" cy="1572768"/>
          </a:xfrm>
          <a:prstGeom prst="rect">
            <a:avLst/>
          </a:prstGeom>
          <a:solidFill>
            <a:srgbClr val="D35400"/>
          </a:solidFill>
          <a:ln w="12700">
            <a:solidFill>
              <a:srgbClr val="D354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28800" y="4782312"/>
            <a:ext cx="1828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2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1828800" y="2267712"/>
            <a:ext cx="1828800" cy="2286000"/>
          </a:xfrm>
          <a:prstGeom prst="roundRect">
            <a:avLst>
              <a:gd name="adj" fmla="val 4000"/>
            </a:avLst>
          </a:prstGeom>
          <a:solidFill>
            <a:srgbClr val="0D1B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874520" y="2340864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35400"/>
                </a:solidFill>
              </a:rPr>
              <a:t>DEVELOPING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874520" y="261518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8C4"/>
                </a:solidFill>
              </a:rPr>
              <a:t>Aware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901952" y="2862072"/>
            <a:ext cx="16824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Basic awareness. Some registers maintained. Reactive but attempting documented policies.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901952" y="3730752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35400"/>
                </a:solidFill>
              </a:rPr>
              <a:t>✓ Partial wage registers</a:t>
            </a:r>
            <a:endParaRPr lang="en-US" sz="750" dirty="0"/>
          </a:p>
        </p:txBody>
      </p:sp>
      <p:sp>
        <p:nvSpPr>
          <p:cNvPr id="21" name="Text 19"/>
          <p:cNvSpPr/>
          <p:nvPr/>
        </p:nvSpPr>
        <p:spPr>
          <a:xfrm>
            <a:off x="1901952" y="3977640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35400"/>
                </a:solidFill>
              </a:rPr>
              <a:t>✓ PF enrolled but gaps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1901952" y="4224528"/>
            <a:ext cx="1682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D35400"/>
                </a:solidFill>
              </a:rPr>
              <a:t>✓ SO in progress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3840480" y="4169664"/>
            <a:ext cx="2286000" cy="2139696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0" y="4215384"/>
            <a:ext cx="22860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</a:t>
            </a:r>
            <a:endParaRPr lang="en-US" sz="2800" dirty="0"/>
          </a:p>
        </p:txBody>
      </p:sp>
      <p:sp>
        <p:nvSpPr>
          <p:cNvPr id="25" name="Shape 23"/>
          <p:cNvSpPr/>
          <p:nvPr/>
        </p:nvSpPr>
        <p:spPr>
          <a:xfrm>
            <a:off x="3840480" y="1609344"/>
            <a:ext cx="2286000" cy="2377440"/>
          </a:xfrm>
          <a:prstGeom prst="roundRect">
            <a:avLst>
              <a:gd name="adj" fmla="val 3200"/>
            </a:avLst>
          </a:prstGeom>
          <a:solidFill>
            <a:srgbClr val="0D1B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886200" y="168249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C89B3C"/>
                </a:solidFill>
              </a:rPr>
              <a:t>DEFINED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886200" y="1956816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8C4"/>
                </a:solidFill>
              </a:rPr>
              <a:t>Structured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3913632" y="2203704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Documented compliance processes. Policies mapped to codes. Periodic internal audits conducted.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913632" y="3072384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9B3C"/>
                </a:solidFill>
              </a:rPr>
              <a:t>✓ Full wage compliance</a:t>
            </a:r>
            <a:endParaRPr lang="en-US" sz="750" dirty="0"/>
          </a:p>
        </p:txBody>
      </p:sp>
      <p:sp>
        <p:nvSpPr>
          <p:cNvPr id="30" name="Text 28"/>
          <p:cNvSpPr/>
          <p:nvPr/>
        </p:nvSpPr>
        <p:spPr>
          <a:xfrm>
            <a:off x="3913632" y="3319272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9B3C"/>
                </a:solidFill>
              </a:rPr>
              <a:t>✓ GRC constituted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3913632" y="3566160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89B3C"/>
                </a:solidFill>
              </a:rPr>
              <a:t>✓ SO certified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6309360" y="3602736"/>
            <a:ext cx="2743200" cy="2706624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09360" y="3648456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4</a:t>
            </a:r>
            <a:endParaRPr lang="en-US" sz="2800" dirty="0"/>
          </a:p>
        </p:txBody>
      </p:sp>
      <p:sp>
        <p:nvSpPr>
          <p:cNvPr id="34" name="Shape 32"/>
          <p:cNvSpPr/>
          <p:nvPr/>
        </p:nvSpPr>
        <p:spPr>
          <a:xfrm>
            <a:off x="6309360" y="950976"/>
            <a:ext cx="2743200" cy="2468880"/>
          </a:xfrm>
          <a:prstGeom prst="roundRect">
            <a:avLst>
              <a:gd name="adj" fmla="val 2963"/>
            </a:avLst>
          </a:prstGeom>
          <a:solidFill>
            <a:srgbClr val="0D1B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6355080" y="1024128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D7377"/>
                </a:solidFill>
              </a:rPr>
              <a:t>MANAGED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355080" y="1298448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8C4"/>
                </a:solidFill>
              </a:rPr>
              <a:t>Proactive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6382512" y="1545336"/>
            <a:ext cx="25968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Metrics-driven compliance. Dashboards in place. Regular training. Low risk exposure.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6382512" y="2414016"/>
            <a:ext cx="2596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D7377"/>
                </a:solidFill>
              </a:rPr>
              <a:t>✓ Monthly compliance reviews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6382512" y="2660904"/>
            <a:ext cx="2596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D7377"/>
                </a:solidFill>
              </a:rPr>
              <a:t>✓ Automated payroll checks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6382512" y="2907792"/>
            <a:ext cx="25968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0D7377"/>
                </a:solidFill>
              </a:rPr>
              <a:t>✓ Zero penalty history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9235440" y="3035808"/>
            <a:ext cx="3200400" cy="3273552"/>
          </a:xfrm>
          <a:prstGeom prst="rect">
            <a:avLst/>
          </a:prstGeom>
          <a:solidFill>
            <a:srgbClr val="16A085"/>
          </a:solidFill>
          <a:ln w="12700">
            <a:solidFill>
              <a:srgbClr val="16A08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235440" y="3081528"/>
            <a:ext cx="32004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5</a:t>
            </a:r>
            <a:endParaRPr lang="en-US" sz="2800" dirty="0"/>
          </a:p>
        </p:txBody>
      </p:sp>
      <p:sp>
        <p:nvSpPr>
          <p:cNvPr id="43" name="Shape 41"/>
          <p:cNvSpPr/>
          <p:nvPr/>
        </p:nvSpPr>
        <p:spPr>
          <a:xfrm>
            <a:off x="9235440" y="292608"/>
            <a:ext cx="3200400" cy="2560320"/>
          </a:xfrm>
          <a:prstGeom prst="roundRect">
            <a:avLst>
              <a:gd name="adj" fmla="val 2857"/>
            </a:avLst>
          </a:prstGeom>
          <a:solidFill>
            <a:srgbClr val="0D1B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/>
          <p:nvPr/>
        </p:nvSpPr>
        <p:spPr>
          <a:xfrm>
            <a:off x="9281160" y="36576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6A085"/>
                </a:solidFill>
              </a:rPr>
              <a:t>OPTIMISED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9281160" y="64008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8C4"/>
                </a:solidFill>
              </a:rPr>
              <a:t>Strategic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9308592" y="886968"/>
            <a:ext cx="30540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BD5E1"/>
                </a:solidFill>
              </a:rPr>
              <a:t>Compliance as competitive advantage. Predictive analytics. Industry benchmarking. Best practice sharing.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9308592" y="1755648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6A085"/>
                </a:solidFill>
              </a:rPr>
              <a:t>✓ Predictive risk alerts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9308592" y="2002536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6A085"/>
                </a:solidFill>
              </a:rPr>
              <a:t>✓ Digital audit trails</a:t>
            </a:r>
            <a:endParaRPr lang="en-US" sz="750" dirty="0"/>
          </a:p>
        </p:txBody>
      </p:sp>
      <p:sp>
        <p:nvSpPr>
          <p:cNvPr id="49" name="Text 47"/>
          <p:cNvSpPr/>
          <p:nvPr/>
        </p:nvSpPr>
        <p:spPr>
          <a:xfrm>
            <a:off x="9308592" y="2249424"/>
            <a:ext cx="30540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16A085"/>
                </a:solidFill>
              </a:rPr>
              <a:t>✓ Board-level compliance reports</a:t>
            </a:r>
            <a:endParaRPr lang="en-US" sz="750" dirty="0"/>
          </a:p>
        </p:txBody>
      </p:sp>
      <p:sp>
        <p:nvSpPr>
          <p:cNvPr id="50" name="Shape 48"/>
          <p:cNvSpPr/>
          <p:nvPr/>
        </p:nvSpPr>
        <p:spPr>
          <a:xfrm>
            <a:off x="5760720" y="2286000"/>
            <a:ext cx="0" cy="4206240"/>
          </a:xfrm>
          <a:prstGeom prst="line">
            <a:avLst/>
          </a:prstGeom>
          <a:noFill/>
          <a:ln w="25400">
            <a:solidFill>
              <a:srgbClr val="C89B3C"/>
            </a:solidFill>
            <a:prstDash val="dash"/>
          </a:ln>
        </p:spPr>
      </p:sp>
      <p:sp>
        <p:nvSpPr>
          <p:cNvPr id="51" name="Shape 49"/>
          <p:cNvSpPr/>
          <p:nvPr/>
        </p:nvSpPr>
        <p:spPr>
          <a:xfrm>
            <a:off x="5029200" y="2103120"/>
            <a:ext cx="1463040" cy="365760"/>
          </a:xfrm>
          <a:prstGeom prst="roundRect">
            <a:avLst>
              <a:gd name="adj" fmla="val 15000"/>
            </a:avLst>
          </a:prstGeom>
          <a:solidFill>
            <a:srgbClr val="C89B3C"/>
          </a:solidFill>
          <a:ln/>
        </p:spPr>
      </p:sp>
      <p:sp>
        <p:nvSpPr>
          <p:cNvPr id="52" name="Text 50"/>
          <p:cNvSpPr/>
          <p:nvPr/>
        </p:nvSpPr>
        <p:spPr>
          <a:xfrm>
            <a:off x="5029200" y="21305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A2342"/>
                </a:solidFill>
              </a:rPr>
              <a:t>▼ YOUR ORG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B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1440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spc="300" kern="0" dirty="0">
                <a:solidFill>
                  <a:srgbClr val="FFFFFF"/>
                </a:solidFill>
              </a:rPr>
              <a:t>REFERENCES &amp; BIBLIOGRAPHY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594360"/>
            <a:ext cx="10972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8C4"/>
                </a:solidFill>
              </a:rPr>
              <a:t>Primary Sources | Legislative Acts | Regulatory Guidelines | Academic References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274320" y="1024128"/>
            <a:ext cx="566928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24128"/>
            <a:ext cx="5669280" cy="347472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088136"/>
            <a:ext cx="5449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Primary Legislation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84048" y="1481328"/>
            <a:ext cx="544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[1]  The Code on Wages, 2019 (No. 29 of 2019) — Ministry of Law and Justice, Gazette of India, 8th August 2019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84048" y="2011680"/>
            <a:ext cx="544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[2]  The Industrial Relations Code, 2020 (No. 35 of 2020) — Ministry of Law and Justice, Gazette of India, 29th September 2020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84048" y="2542032"/>
            <a:ext cx="544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[3]  The Code on Social Security, 2020 (No. 36 of 2020) — Ministry of Law and Justice, Gazette of India, 29th September 2020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84048" y="3072384"/>
            <a:ext cx="544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[4]  The Occupational Safety, Health and Working Conditions Code, 2020 (No. 37 of 2020)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4320" y="3904488"/>
            <a:ext cx="566928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3904488"/>
            <a:ext cx="5669280" cy="347472"/>
          </a:xfrm>
          <a:prstGeom prst="rect">
            <a:avLst/>
          </a:prstGeom>
          <a:solidFill>
            <a:srgbClr val="1B4F8A"/>
          </a:solidFill>
          <a:ln w="12700">
            <a:solidFill>
              <a:srgbClr val="1B4F8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3968496"/>
            <a:ext cx="5449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Replaced Legislation (Historical Reference)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84048" y="4361688"/>
            <a:ext cx="544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[1]  The Payment of Wages Act, 1936 | The Minimum Wages Act, 1948 | The Payment of Bonus Act, 1965 | The Equal Remuneration Act, 1976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84048" y="4892040"/>
            <a:ext cx="544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[2]  The Trade Unions Act, 1926 | The Industrial Employment (Standing Orders) Act, 1946 | The Industrial Disputes Act, 1947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384048" y="5422392"/>
            <a:ext cx="544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[3]  The Employees' Provident Funds and Miscellaneous Provisions Act, 1952 | The Employees' State Insurance Act, 1948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84048" y="5952744"/>
            <a:ext cx="544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[4]  The Payment of Gratuity Act, 1972 | The Maternity Benefit Act, 1961 | The Factories Act, 1948 | The Mines Act, 1952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6263640" y="1024128"/>
            <a:ext cx="566928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63640" y="1024128"/>
            <a:ext cx="5669280" cy="347472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3368" y="1088136"/>
            <a:ext cx="5449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Government &amp; Regulatory Sources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373368" y="1481328"/>
            <a:ext cx="544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[1]  Ministry of Labour &amp; Employment, Government of India — labour.gov.in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373368" y="2011680"/>
            <a:ext cx="544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[2]  Gazette of India Extraordinary Notifications 2019–2020 — egazette.nic.in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6373368" y="2542032"/>
            <a:ext cx="544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[3]  Draft Rules under the Four Labour Codes (2020–2022) — State Government notifications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6373368" y="3072384"/>
            <a:ext cx="544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[4]  Second National Commission on Labour Report (2002) — Foundation for the reform initiative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263640" y="3904488"/>
            <a:ext cx="5669280" cy="2697480"/>
          </a:xfrm>
          <a:prstGeom prst="roundRect">
            <a:avLst>
              <a:gd name="adj" fmla="val 271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263640" y="3904488"/>
            <a:ext cx="5669280" cy="347472"/>
          </a:xfrm>
          <a:prstGeom prst="rect">
            <a:avLst/>
          </a:prstGeom>
          <a:solidFill>
            <a:srgbClr val="C89B3C"/>
          </a:solidFill>
          <a:ln w="12700">
            <a:solidFill>
              <a:srgbClr val="C89B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373368" y="3968496"/>
            <a:ext cx="54498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International References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373368" y="4361688"/>
            <a:ext cx="544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[1]  International Labour Organization (ILO) — Core Labour Standards and Conventions — ilo.org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373368" y="4892040"/>
            <a:ext cx="544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[2]  ILO World Employment and Social Outlook 2024 — Global minimum wage statistics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373368" y="5422392"/>
            <a:ext cx="544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[3]  Doing Business Report 2020 — World Bank — Labour market regulatory indicators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373368" y="5952744"/>
            <a:ext cx="5440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34155"/>
                </a:solidFill>
              </a:rPr>
              <a:t>[4]  Comparative Labour Law — Blanpain (Ed.), Kluwer Law International, 2014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0" y="6537960"/>
            <a:ext cx="12161520" cy="320040"/>
          </a:xfrm>
          <a:prstGeom prst="rect">
            <a:avLst/>
          </a:prstGeom>
          <a:solidFill>
            <a:srgbClr val="0A2342"/>
          </a:solidFill>
          <a:ln w="12700">
            <a:solidFill>
              <a:srgbClr val="0A2342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7200" y="6583680"/>
            <a:ext cx="11247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BA8C4"/>
                </a:solidFill>
              </a:rPr>
              <a:t>© 2024 HR Legal Intelligence Portfolio | All content based on publicly available legislative acts | For internal educational use only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Indian Labour Law Portfolio – Four Labour Codes 2019-2020</dc:title>
  <dc:subject>PptxGenJS Presentation</dc:subject>
  <dc:creator>HR Legal Intelligence</dc:creator>
  <cp:lastModifiedBy>HR Legal Intelligence</cp:lastModifiedBy>
  <cp:revision>1</cp:revision>
  <dcterms:created xsi:type="dcterms:W3CDTF">2026-06-14T07:43:39Z</dcterms:created>
  <dcterms:modified xsi:type="dcterms:W3CDTF">2026-06-14T07:43:40Z</dcterms:modified>
</cp:coreProperties>
</file>